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E2761"/>
        </a:solidFill>
      </p:bgPr>
    </p:bg>
    <p:spTree>
      <p:nvGrpSpPr>
        <p:cNvPr id="1" name=""/>
        <p:cNvGrpSpPr/>
        <p:nvPr/>
      </p:nvGrpSpPr>
      <p:grpSpPr>
        <a:xfrm>
          <a:off x="0" y="0"/>
          <a:ext cx="0" cy="0"/>
          <a:chOff x="0" y="0"/>
          <a:chExt cx="0" cy="0"/>
        </a:xfrm>
      </p:grpSpPr>
      <p:sp>
        <p:nvSpPr>
          <p:cNvPr id="2" name="Shape 0"/>
          <p:cNvSpPr/>
          <p:nvPr/>
        </p:nvSpPr>
        <p:spPr>
          <a:xfrm>
            <a:off x="9692640" y="-1371600"/>
            <a:ext cx="4572000" cy="4572000"/>
          </a:xfrm>
          <a:prstGeom prst="ellipse">
            <a:avLst/>
          </a:prstGeom>
          <a:solidFill>
            <a:srgbClr val="273476"/>
          </a:solidFill>
          <a:ln/>
        </p:spPr>
      </p:sp>
      <p:sp>
        <p:nvSpPr>
          <p:cNvPr id="3" name="Shape 1"/>
          <p:cNvSpPr/>
          <p:nvPr/>
        </p:nvSpPr>
        <p:spPr>
          <a:xfrm>
            <a:off x="10789920" y="4206240"/>
            <a:ext cx="2743200" cy="2743200"/>
          </a:xfrm>
          <a:prstGeom prst="ellipse">
            <a:avLst/>
          </a:prstGeom>
          <a:solidFill>
            <a:srgbClr val="273476"/>
          </a:solidFill>
          <a:ln/>
        </p:spPr>
      </p:sp>
      <p:sp>
        <p:nvSpPr>
          <p:cNvPr id="4" name="Shape 2"/>
          <p:cNvSpPr/>
          <p:nvPr/>
        </p:nvSpPr>
        <p:spPr>
          <a:xfrm>
            <a:off x="822960" y="822960"/>
            <a:ext cx="822960" cy="822960"/>
          </a:xfrm>
          <a:prstGeom prst="ellipse">
            <a:avLst/>
          </a:prstGeom>
          <a:solidFill>
            <a:srgbClr val="F2994A"/>
          </a:solidFill>
          <a:ln/>
        </p:spPr>
      </p:sp>
      <p:sp>
        <p:nvSpPr>
          <p:cNvPr id="5" name="Text 3"/>
          <p:cNvSpPr/>
          <p:nvPr/>
        </p:nvSpPr>
        <p:spPr>
          <a:xfrm>
            <a:off x="822960" y="822960"/>
            <a:ext cx="822960" cy="822960"/>
          </a:xfrm>
          <a:prstGeom prst="rect">
            <a:avLst/>
          </a:prstGeom>
          <a:noFill/>
          <a:ln/>
        </p:spPr>
        <p:txBody>
          <a:bodyPr wrap="square" rtlCol="0" anchor="ctr"/>
          <a:lstStyle/>
          <a:p>
            <a:pPr algn="ctr" indent="0" marL="0">
              <a:buNone/>
            </a:pPr>
            <a:r>
              <a:rPr lang="en-US" sz="2520" b="1" dirty="0">
                <a:solidFill>
                  <a:srgbClr val="FFFFFF"/>
                </a:solidFill>
                <a:latin typeface="Arial" pitchFamily="34" charset="0"/>
                <a:ea typeface="Arial" pitchFamily="34" charset="-122"/>
                <a:cs typeface="Arial" pitchFamily="34" charset="-120"/>
              </a:rPr>
              <a:t>☁</a:t>
            </a:r>
            <a:endParaRPr lang="en-US" sz="2520" dirty="0"/>
          </a:p>
        </p:txBody>
      </p:sp>
      <p:sp>
        <p:nvSpPr>
          <p:cNvPr id="6" name="Text 4"/>
          <p:cNvSpPr txBox="1"/>
          <p:nvPr/>
        </p:nvSpPr>
        <p:spPr>
          <a:xfrm>
            <a:off x="822960" y="2286000"/>
            <a:ext cx="8686800" cy="1005840"/>
          </a:xfrm>
          <a:prstGeom prst="rect">
            <a:avLst/>
          </a:prstGeom>
          <a:noFill/>
          <a:ln/>
        </p:spPr>
        <p:txBody>
          <a:bodyPr wrap="square" rtlCol="0" anchor="ctr"/>
          <a:lstStyle/>
          <a:p>
            <a:pPr indent="0" marL="0">
              <a:buNone/>
            </a:pPr>
            <a:r>
              <a:rPr lang="en-US" sz="4000" b="1" dirty="0">
                <a:solidFill>
                  <a:srgbClr val="FFFFFF"/>
                </a:solidFill>
                <a:latin typeface="Cambria" pitchFamily="34" charset="0"/>
                <a:ea typeface="Cambria" pitchFamily="34" charset="-122"/>
                <a:cs typeface="Cambria" pitchFamily="34" charset="-120"/>
              </a:rPr>
              <a:t>AWS SERVICE EXPLORER</a:t>
            </a:r>
            <a:endParaRPr lang="en-US" sz="4000" dirty="0"/>
          </a:p>
        </p:txBody>
      </p:sp>
      <p:sp>
        <p:nvSpPr>
          <p:cNvPr id="7" name="Text 5"/>
          <p:cNvSpPr txBox="1"/>
          <p:nvPr/>
        </p:nvSpPr>
        <p:spPr>
          <a:xfrm>
            <a:off x="822960" y="3200400"/>
            <a:ext cx="8229600" cy="548640"/>
          </a:xfrm>
          <a:prstGeom prst="rect">
            <a:avLst/>
          </a:prstGeom>
          <a:noFill/>
          <a:ln/>
        </p:spPr>
        <p:txBody>
          <a:bodyPr wrap="square" rtlCol="0" anchor="ctr"/>
          <a:lstStyle/>
          <a:p>
            <a:pPr indent="0" marL="0">
              <a:buNone/>
            </a:pPr>
            <a:r>
              <a:rPr lang="en-US" sz="1800" dirty="0">
                <a:solidFill>
                  <a:srgbClr val="CADCFC"/>
                </a:solidFill>
                <a:latin typeface="Calibri" pitchFamily="34" charset="0"/>
                <a:ea typeface="Calibri" pitchFamily="34" charset="-122"/>
                <a:cs typeface="Calibri" pitchFamily="34" charset="-120"/>
              </a:rPr>
              <a:t>An Interactive Web Application for Exploring AWS Cloud Services</a:t>
            </a:r>
            <a:endParaRPr lang="en-US" sz="1800" dirty="0"/>
          </a:p>
        </p:txBody>
      </p:sp>
      <p:sp>
        <p:nvSpPr>
          <p:cNvPr id="8" name="Text 6"/>
          <p:cNvSpPr txBox="1"/>
          <p:nvPr/>
        </p:nvSpPr>
        <p:spPr>
          <a:xfrm>
            <a:off x="822960" y="5669280"/>
            <a:ext cx="8229600" cy="731520"/>
          </a:xfrm>
          <a:prstGeom prst="rect">
            <a:avLst/>
          </a:prstGeom>
          <a:noFill/>
          <a:ln/>
        </p:spPr>
        <p:txBody>
          <a:bodyPr wrap="square" rtlCol="0" anchor="ctr"/>
          <a:lstStyle/>
          <a:p>
            <a:pPr indent="0" marL="0">
              <a:lnSpc>
                <a:spcPct val="130000"/>
              </a:lnSpc>
              <a:buNone/>
            </a:pPr>
            <a:r>
              <a:rPr lang="en-US" sz="1300" dirty="0">
                <a:solidFill>
                  <a:srgbClr val="CADCFC"/>
                </a:solidFill>
                <a:latin typeface="Calibri" pitchFamily="34" charset="0"/>
                <a:ea typeface="Calibri" pitchFamily="34" charset="-122"/>
                <a:cs typeface="Calibri" pitchFamily="34" charset="-120"/>
              </a:rPr>
              <a:t>Sahil Sharma  |  B.Tech CSE, IILM University, Greater Noida</a:t>
            </a:r>
            <a:endParaRPr lang="en-US" sz="1300" dirty="0"/>
          </a:p>
          <a:p>
            <a:pPr indent="0" marL="0">
              <a:lnSpc>
                <a:spcPct val="130000"/>
              </a:lnSpc>
              <a:buNone/>
            </a:pPr>
            <a:r>
              <a:rPr lang="en-US" sz="1300" dirty="0">
                <a:solidFill>
                  <a:srgbClr val="CADCFC"/>
                </a:solidFill>
                <a:latin typeface="Calibri" pitchFamily="34" charset="0"/>
                <a:ea typeface="Calibri" pitchFamily="34" charset="-122"/>
                <a:cs typeface="Calibri" pitchFamily="34" charset="-120"/>
              </a:rPr>
              <a:t>AICTE–EduSkills Virtual Internship Program — AWS Cloud Business Application</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11480"/>
            <a:ext cx="7315200" cy="640080"/>
          </a:xfrm>
          <a:prstGeom prst="rect">
            <a:avLst/>
          </a:prstGeom>
          <a:noFill/>
          <a:ln/>
        </p:spPr>
        <p:txBody>
          <a:bodyPr wrap="square" rtlCol="0" anchor="ctr"/>
          <a:lstStyle/>
          <a:p>
            <a:pPr indent="0" marL="0">
              <a:buNone/>
            </a:pPr>
            <a:r>
              <a:rPr lang="en-US" sz="3200" b="1" dirty="0">
                <a:solidFill>
                  <a:srgbClr val="1E2761"/>
                </a:solidFill>
                <a:latin typeface="Cambria" pitchFamily="34" charset="0"/>
                <a:ea typeface="Cambria" pitchFamily="34" charset="-122"/>
                <a:cs typeface="Cambria" pitchFamily="34" charset="-120"/>
              </a:rPr>
              <a:t>Introduction</a:t>
            </a:r>
            <a:endParaRPr lang="en-US" sz="3200" dirty="0"/>
          </a:p>
        </p:txBody>
      </p:sp>
      <p:sp>
        <p:nvSpPr>
          <p:cNvPr id="3" name="Shape 1"/>
          <p:cNvSpPr/>
          <p:nvPr/>
        </p:nvSpPr>
        <p:spPr>
          <a:xfrm>
            <a:off x="7498080" y="822960"/>
            <a:ext cx="4206240" cy="5120640"/>
          </a:xfrm>
          <a:prstGeom prst="rect">
            <a:avLst/>
          </a:prstGeom>
          <a:solidFill>
            <a:srgbClr val="F4F7FD"/>
          </a:solidFill>
          <a:ln/>
        </p:spPr>
      </p:sp>
      <p:sp>
        <p:nvSpPr>
          <p:cNvPr id="4" name="Shape 2"/>
          <p:cNvSpPr/>
          <p:nvPr/>
        </p:nvSpPr>
        <p:spPr>
          <a:xfrm>
            <a:off x="7863840" y="1188720"/>
            <a:ext cx="640080" cy="640080"/>
          </a:xfrm>
          <a:prstGeom prst="ellipse">
            <a:avLst/>
          </a:prstGeom>
          <a:solidFill>
            <a:srgbClr val="1E2761"/>
          </a:solidFill>
          <a:ln/>
        </p:spPr>
      </p:sp>
      <p:sp>
        <p:nvSpPr>
          <p:cNvPr id="5" name="Text 3"/>
          <p:cNvSpPr/>
          <p:nvPr/>
        </p:nvSpPr>
        <p:spPr>
          <a:xfrm>
            <a:off x="7863840" y="1188720"/>
            <a:ext cx="640080" cy="640080"/>
          </a:xfrm>
          <a:prstGeom prst="rect">
            <a:avLst/>
          </a:prstGeom>
          <a:noFill/>
          <a:ln/>
        </p:spPr>
        <p:txBody>
          <a:bodyPr wrap="square" rtlCol="0" anchor="ctr"/>
          <a:lstStyle/>
          <a:p>
            <a:pPr algn="ctr" indent="0" marL="0">
              <a:buNone/>
            </a:pPr>
            <a:r>
              <a:rPr lang="en-US" sz="1960" b="1" dirty="0">
                <a:solidFill>
                  <a:srgbClr val="FFFFFF"/>
                </a:solidFill>
                <a:latin typeface="Arial" pitchFamily="34" charset="0"/>
                <a:ea typeface="Arial" pitchFamily="34" charset="-122"/>
                <a:cs typeface="Arial" pitchFamily="34" charset="-120"/>
              </a:rPr>
              <a:t>☁</a:t>
            </a:r>
            <a:endParaRPr lang="en-US" sz="1960" dirty="0"/>
          </a:p>
        </p:txBody>
      </p:sp>
      <p:sp>
        <p:nvSpPr>
          <p:cNvPr id="6" name="Text 4"/>
          <p:cNvSpPr txBox="1"/>
          <p:nvPr/>
        </p:nvSpPr>
        <p:spPr>
          <a:xfrm>
            <a:off x="7818120" y="2011680"/>
            <a:ext cx="3474720" cy="548640"/>
          </a:xfrm>
          <a:prstGeom prst="rect">
            <a:avLst/>
          </a:prstGeom>
          <a:noFill/>
          <a:ln/>
        </p:spPr>
        <p:txBody>
          <a:bodyPr wrap="square" rtlCol="0" anchor="ctr"/>
          <a:lstStyle/>
          <a:p>
            <a:pPr indent="0" marL="0">
              <a:buNone/>
            </a:pPr>
            <a:r>
              <a:rPr lang="en-US" sz="1300" b="1" dirty="0">
                <a:solidFill>
                  <a:srgbClr val="1E2761"/>
                </a:solidFill>
                <a:latin typeface="Calibri" pitchFamily="34" charset="0"/>
                <a:ea typeface="Calibri" pitchFamily="34" charset="-122"/>
                <a:cs typeface="Calibri" pitchFamily="34" charset="-120"/>
              </a:rPr>
              <a:t>Built with Python</a:t>
            </a:r>
            <a:endParaRPr lang="en-US" sz="1300" dirty="0"/>
          </a:p>
          <a:p>
            <a:pPr indent="0" marL="0">
              <a:buNone/>
            </a:pPr>
            <a:r>
              <a:rPr lang="en-US" sz="1300" b="1" dirty="0">
                <a:solidFill>
                  <a:srgbClr val="1E2761"/>
                </a:solidFill>
                <a:latin typeface="Calibri" pitchFamily="34" charset="0"/>
                <a:ea typeface="Calibri" pitchFamily="34" charset="-122"/>
                <a:cs typeface="Calibri" pitchFamily="34" charset="-120"/>
              </a:rPr>
              <a:t>+ Streamlit</a:t>
            </a:r>
            <a:endParaRPr lang="en-US" sz="1300" dirty="0"/>
          </a:p>
        </p:txBody>
      </p:sp>
      <p:sp>
        <p:nvSpPr>
          <p:cNvPr id="7" name="Text 5"/>
          <p:cNvSpPr txBox="1"/>
          <p:nvPr/>
        </p:nvSpPr>
        <p:spPr>
          <a:xfrm>
            <a:off x="548640" y="1463040"/>
            <a:ext cx="6583680" cy="3657600"/>
          </a:xfrm>
          <a:prstGeom prst="rect">
            <a:avLst/>
          </a:prstGeom>
          <a:noFill/>
          <a:ln/>
        </p:spPr>
        <p:txBody>
          <a:bodyPr wrap="square" rtlCol="0" anchor="t"/>
          <a:lstStyle/>
          <a:p>
            <a:pPr marL="342900" indent="-342900">
              <a:spcAft>
                <a:spcPts val="1400"/>
              </a:spcAft>
              <a:buSzPct val="100000"/>
              <a:buChar char="●"/>
            </a:pPr>
            <a:r>
              <a:rPr lang="en-US" sz="1600" dirty="0">
                <a:solidFill>
                  <a:srgbClr val="1E2761"/>
                </a:solidFill>
                <a:latin typeface="Calibri" pitchFamily="34" charset="0"/>
                <a:ea typeface="Calibri" pitchFamily="34" charset="-122"/>
                <a:cs typeface="Calibri" pitchFamily="34" charset="-120"/>
              </a:rPr>
              <a:t>A simple web-based application for exploring AWS cloud services</a:t>
            </a:r>
            <a:endParaRPr lang="en-US" sz="1600" dirty="0"/>
          </a:p>
          <a:p>
            <a:pPr marL="342900" indent="-342900">
              <a:spcAft>
                <a:spcPts val="1400"/>
              </a:spcAft>
              <a:buSzPct val="100000"/>
              <a:buChar char="●"/>
            </a:pPr>
            <a:r>
              <a:rPr lang="en-US" sz="1600" dirty="0">
                <a:solidFill>
                  <a:srgbClr val="1E2761"/>
                </a:solidFill>
                <a:latin typeface="Calibri" pitchFamily="34" charset="0"/>
                <a:ea typeface="Calibri" pitchFamily="34" charset="-122"/>
                <a:cs typeface="Calibri" pitchFamily="34" charset="-120"/>
              </a:rPr>
              <a:t>Developed using Python and Streamlit</a:t>
            </a:r>
            <a:endParaRPr lang="en-US" sz="1600" dirty="0"/>
          </a:p>
          <a:p>
            <a:pPr marL="342900" indent="-342900">
              <a:spcAft>
                <a:spcPts val="1400"/>
              </a:spcAft>
              <a:buSzPct val="100000"/>
              <a:buChar char="●"/>
            </a:pPr>
            <a:r>
              <a:rPr lang="en-US" sz="1600" dirty="0">
                <a:solidFill>
                  <a:srgbClr val="1E2761"/>
                </a:solidFill>
                <a:latin typeface="Calibri" pitchFamily="34" charset="0"/>
                <a:ea typeface="Calibri" pitchFamily="34" charset="-122"/>
                <a:cs typeface="Calibri" pitchFamily="34" charset="-120"/>
              </a:rPr>
              <a:t>Helps users understand service features, categories, and business use cases</a:t>
            </a:r>
            <a:endParaRPr lang="en-US" sz="1600" dirty="0"/>
          </a:p>
          <a:p>
            <a:pPr marL="342900" indent="-342900">
              <a:spcAft>
                <a:spcPts val="1400"/>
              </a:spcAft>
              <a:buSzPct val="100000"/>
              <a:buChar char="●"/>
            </a:pPr>
            <a:r>
              <a:rPr lang="en-US" sz="1600" dirty="0">
                <a:solidFill>
                  <a:srgbClr val="1E2761"/>
                </a:solidFill>
                <a:latin typeface="Calibri" pitchFamily="34" charset="0"/>
                <a:ea typeface="Calibri" pitchFamily="34" charset="-122"/>
                <a:cs typeface="Calibri" pitchFamily="34" charset="-120"/>
              </a:rPr>
              <a:t>Offers an easy, interactive interface — no complex AWS setup required</a:t>
            </a:r>
            <a:endParaRPr lang="en-US" sz="1600" dirty="0"/>
          </a:p>
        </p:txBody>
      </p:sp>
      <p:sp>
        <p:nvSpPr>
          <p:cNvPr id="8" name="Text 6"/>
          <p:cNvSpPr/>
          <p:nvPr/>
        </p:nvSpPr>
        <p:spPr>
          <a:xfrm>
            <a:off x="457200" y="6510528"/>
            <a:ext cx="5486400" cy="274320"/>
          </a:xfrm>
          <a:prstGeom prst="rect">
            <a:avLst/>
          </a:prstGeom>
          <a:noFill/>
          <a:ln/>
        </p:spPr>
        <p:txBody>
          <a:bodyPr wrap="square" rtlCol="0" anchor="ctr"/>
          <a:lstStyle/>
          <a:p>
            <a:pPr algn="l" indent="0" marL="0">
              <a:buNone/>
            </a:pPr>
            <a:r>
              <a:rPr lang="en-US" sz="900" dirty="0">
                <a:solidFill>
                  <a:srgbClr val="5B6B8C"/>
                </a:solidFill>
                <a:latin typeface="Calibri" pitchFamily="34" charset="0"/>
                <a:ea typeface="Calibri" pitchFamily="34" charset="-122"/>
                <a:cs typeface="Calibri" pitchFamily="34" charset="-120"/>
              </a:rPr>
              <a:t>AWS Service Explorer</a:t>
            </a:r>
            <a:endParaRPr lang="en-US" sz="900" dirty="0"/>
          </a:p>
        </p:txBody>
      </p:sp>
      <p:sp>
        <p:nvSpPr>
          <p:cNvPr id="9" name="Text 7"/>
          <p:cNvSpPr/>
          <p:nvPr/>
        </p:nvSpPr>
        <p:spPr>
          <a:xfrm>
            <a:off x="11430000" y="6510528"/>
            <a:ext cx="365760" cy="274320"/>
          </a:xfrm>
          <a:prstGeom prst="rect">
            <a:avLst/>
          </a:prstGeom>
          <a:noFill/>
          <a:ln/>
        </p:spPr>
        <p:txBody>
          <a:bodyPr wrap="square" rtlCol="0" anchor="ctr"/>
          <a:lstStyle/>
          <a:p>
            <a:pPr algn="r" indent="0" marL="0">
              <a:buNone/>
            </a:pPr>
            <a:r>
              <a:rPr lang="en-US" sz="900" dirty="0">
                <a:solidFill>
                  <a:srgbClr val="5B6B8C"/>
                </a:solidFill>
                <a:latin typeface="Calibri" pitchFamily="34" charset="0"/>
                <a:ea typeface="Calibri" pitchFamily="34" charset="-122"/>
                <a:cs typeface="Calibri" pitchFamily="34" charset="-120"/>
              </a:rPr>
              <a:t>2</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1E2761"/>
        </a:solidFill>
      </p:bgPr>
    </p:bg>
    <p:spTree>
      <p:nvGrpSpPr>
        <p:cNvPr id="1" name=""/>
        <p:cNvGrpSpPr/>
        <p:nvPr/>
      </p:nvGrpSpPr>
      <p:grpSpPr>
        <a:xfrm>
          <a:off x="0" y="0"/>
          <a:ext cx="0" cy="0"/>
          <a:chOff x="0" y="0"/>
          <a:chExt cx="0" cy="0"/>
        </a:xfrm>
      </p:grpSpPr>
      <p:sp>
        <p:nvSpPr>
          <p:cNvPr id="2" name="Text 0"/>
          <p:cNvSpPr txBox="1"/>
          <p:nvPr/>
        </p:nvSpPr>
        <p:spPr>
          <a:xfrm>
            <a:off x="548640" y="411480"/>
            <a:ext cx="8229600" cy="640080"/>
          </a:xfrm>
          <a:prstGeom prst="rect">
            <a:avLst/>
          </a:prstGeom>
          <a:noFill/>
          <a:ln/>
        </p:spPr>
        <p:txBody>
          <a:bodyPr wrap="square" rtlCol="0" anchor="ctr"/>
          <a:lstStyle/>
          <a:p>
            <a:pPr indent="0" marL="0">
              <a:buNone/>
            </a:pPr>
            <a:r>
              <a:rPr lang="en-US" sz="3200" b="1" dirty="0">
                <a:solidFill>
                  <a:srgbClr val="FFFFFF"/>
                </a:solidFill>
                <a:latin typeface="Cambria" pitchFamily="34" charset="0"/>
                <a:ea typeface="Cambria" pitchFamily="34" charset="-122"/>
                <a:cs typeface="Cambria" pitchFamily="34" charset="-120"/>
              </a:rPr>
              <a:t>Problem Statement</a:t>
            </a:r>
            <a:endParaRPr lang="en-US" sz="3200" dirty="0"/>
          </a:p>
        </p:txBody>
      </p:sp>
      <p:sp>
        <p:nvSpPr>
          <p:cNvPr id="3" name="Shape 1"/>
          <p:cNvSpPr/>
          <p:nvPr/>
        </p:nvSpPr>
        <p:spPr>
          <a:xfrm>
            <a:off x="548640" y="1645920"/>
            <a:ext cx="11064240" cy="1920240"/>
          </a:xfrm>
          <a:prstGeom prst="roundRect">
            <a:avLst>
              <a:gd name="adj" fmla="val 5714"/>
            </a:avLst>
          </a:prstGeom>
          <a:solidFill>
            <a:srgbClr val="273476"/>
          </a:solidFill>
          <a:ln/>
        </p:spPr>
      </p:sp>
      <p:sp>
        <p:nvSpPr>
          <p:cNvPr id="4" name="Text 2"/>
          <p:cNvSpPr txBox="1"/>
          <p:nvPr/>
        </p:nvSpPr>
        <p:spPr>
          <a:xfrm>
            <a:off x="914400" y="1828800"/>
            <a:ext cx="10332720" cy="1554480"/>
          </a:xfrm>
          <a:prstGeom prst="rect">
            <a:avLst/>
          </a:prstGeom>
          <a:noFill/>
          <a:ln/>
        </p:spPr>
        <p:txBody>
          <a:bodyPr wrap="square" rtlCol="0" anchor="ctr"/>
          <a:lstStyle/>
          <a:p>
            <a:pPr indent="0" marL="0">
              <a:buNone/>
            </a:pPr>
            <a:r>
              <a:rPr lang="en-US" sz="1900" i="1" dirty="0">
                <a:solidFill>
                  <a:srgbClr val="CADCFC"/>
                </a:solidFill>
                <a:latin typeface="Calibri" pitchFamily="34" charset="0"/>
                <a:ea typeface="Calibri" pitchFamily="34" charset="-122"/>
                <a:cs typeface="Calibri" pitchFamily="34" charset="-120"/>
              </a:rPr>
              <a:t>AWS offers a large number of cloud services — making it difficult for beginners to understand, navigate, and compare them.</a:t>
            </a:r>
            <a:endParaRPr lang="en-US" sz="1900" dirty="0"/>
          </a:p>
        </p:txBody>
      </p:sp>
      <p:sp>
        <p:nvSpPr>
          <p:cNvPr id="5" name="Shape 3"/>
          <p:cNvSpPr/>
          <p:nvPr/>
        </p:nvSpPr>
        <p:spPr>
          <a:xfrm>
            <a:off x="548640" y="3931920"/>
            <a:ext cx="3520440" cy="2011680"/>
          </a:xfrm>
          <a:prstGeom prst="roundRect">
            <a:avLst>
              <a:gd name="adj" fmla="val 4545"/>
            </a:avLst>
          </a:prstGeom>
          <a:solidFill>
            <a:srgbClr val="FFFFFF"/>
          </a:solidFill>
          <a:ln/>
        </p:spPr>
      </p:sp>
      <p:sp>
        <p:nvSpPr>
          <p:cNvPr id="6" name="Text 4"/>
          <p:cNvSpPr txBox="1"/>
          <p:nvPr/>
        </p:nvSpPr>
        <p:spPr>
          <a:xfrm>
            <a:off x="777240" y="4114800"/>
            <a:ext cx="914400" cy="548640"/>
          </a:xfrm>
          <a:prstGeom prst="rect">
            <a:avLst/>
          </a:prstGeom>
          <a:noFill/>
          <a:ln/>
        </p:spPr>
        <p:txBody>
          <a:bodyPr wrap="square" rtlCol="0" anchor="ctr"/>
          <a:lstStyle/>
          <a:p>
            <a:pPr indent="0" marL="0">
              <a:buNone/>
            </a:pPr>
            <a:r>
              <a:rPr lang="en-US" sz="2600" dirty="0">
                <a:solidFill>
                  <a:srgbClr val="000000"/>
                </a:solidFill>
              </a:rPr>
              <a:t>❓</a:t>
            </a:r>
            <a:endParaRPr lang="en-US" sz="2600" dirty="0"/>
          </a:p>
        </p:txBody>
      </p:sp>
      <p:sp>
        <p:nvSpPr>
          <p:cNvPr id="7" name="Text 5"/>
          <p:cNvSpPr txBox="1"/>
          <p:nvPr/>
        </p:nvSpPr>
        <p:spPr>
          <a:xfrm>
            <a:off x="777240" y="4617720"/>
            <a:ext cx="3108960" cy="365760"/>
          </a:xfrm>
          <a:prstGeom prst="rect">
            <a:avLst/>
          </a:prstGeom>
          <a:noFill/>
          <a:ln/>
        </p:spPr>
        <p:txBody>
          <a:bodyPr wrap="square" rtlCol="0" anchor="ctr"/>
          <a:lstStyle/>
          <a:p>
            <a:pPr indent="0" marL="0">
              <a:buNone/>
            </a:pPr>
            <a:r>
              <a:rPr lang="en-US" sz="1500" b="1" dirty="0">
                <a:solidFill>
                  <a:srgbClr val="1E2761"/>
                </a:solidFill>
                <a:latin typeface="Calibri" pitchFamily="34" charset="0"/>
                <a:ea typeface="Calibri" pitchFamily="34" charset="-122"/>
                <a:cs typeface="Calibri" pitchFamily="34" charset="-120"/>
              </a:rPr>
              <a:t>Confusing choices</a:t>
            </a:r>
            <a:endParaRPr lang="en-US" sz="1500" dirty="0"/>
          </a:p>
        </p:txBody>
      </p:sp>
      <p:sp>
        <p:nvSpPr>
          <p:cNvPr id="8" name="Text 6"/>
          <p:cNvSpPr txBox="1"/>
          <p:nvPr/>
        </p:nvSpPr>
        <p:spPr>
          <a:xfrm>
            <a:off x="777240" y="4983480"/>
            <a:ext cx="3108960" cy="822960"/>
          </a:xfrm>
          <a:prstGeom prst="rect">
            <a:avLst/>
          </a:prstGeom>
          <a:noFill/>
          <a:ln/>
        </p:spPr>
        <p:txBody>
          <a:bodyPr wrap="square" rtlCol="0" anchor="ctr"/>
          <a:lstStyle/>
          <a:p>
            <a:pPr indent="0" marL="0">
              <a:buNone/>
            </a:pPr>
            <a:r>
              <a:rPr lang="en-US" sz="1200" dirty="0">
                <a:solidFill>
                  <a:srgbClr val="5B6B8C"/>
                </a:solidFill>
                <a:latin typeface="Calibri" pitchFamily="34" charset="0"/>
                <a:ea typeface="Calibri" pitchFamily="34" charset="-122"/>
                <a:cs typeface="Calibri" pitchFamily="34" charset="-120"/>
              </a:rPr>
              <a:t>Beginners struggle to identify each service's purpose</a:t>
            </a:r>
            <a:endParaRPr lang="en-US" sz="1200" dirty="0"/>
          </a:p>
        </p:txBody>
      </p:sp>
      <p:sp>
        <p:nvSpPr>
          <p:cNvPr id="9" name="Shape 7"/>
          <p:cNvSpPr/>
          <p:nvPr/>
        </p:nvSpPr>
        <p:spPr>
          <a:xfrm>
            <a:off x="4325112" y="3931920"/>
            <a:ext cx="3520440" cy="2011680"/>
          </a:xfrm>
          <a:prstGeom prst="roundRect">
            <a:avLst>
              <a:gd name="adj" fmla="val 4545"/>
            </a:avLst>
          </a:prstGeom>
          <a:solidFill>
            <a:srgbClr val="FFFFFF"/>
          </a:solidFill>
          <a:ln/>
        </p:spPr>
      </p:sp>
      <p:sp>
        <p:nvSpPr>
          <p:cNvPr id="10" name="Text 8"/>
          <p:cNvSpPr txBox="1"/>
          <p:nvPr/>
        </p:nvSpPr>
        <p:spPr>
          <a:xfrm>
            <a:off x="4553712" y="4114800"/>
            <a:ext cx="914400" cy="548640"/>
          </a:xfrm>
          <a:prstGeom prst="rect">
            <a:avLst/>
          </a:prstGeom>
          <a:noFill/>
          <a:ln/>
        </p:spPr>
        <p:txBody>
          <a:bodyPr wrap="square" rtlCol="0" anchor="ctr"/>
          <a:lstStyle/>
          <a:p>
            <a:pPr indent="0" marL="0">
              <a:buNone/>
            </a:pPr>
            <a:r>
              <a:rPr lang="en-US" sz="2600" dirty="0">
                <a:solidFill>
                  <a:srgbClr val="000000"/>
                </a:solidFill>
              </a:rPr>
              <a:t>⚖</a:t>
            </a:r>
            <a:endParaRPr lang="en-US" sz="2600" dirty="0"/>
          </a:p>
        </p:txBody>
      </p:sp>
      <p:sp>
        <p:nvSpPr>
          <p:cNvPr id="11" name="Text 9"/>
          <p:cNvSpPr txBox="1"/>
          <p:nvPr/>
        </p:nvSpPr>
        <p:spPr>
          <a:xfrm>
            <a:off x="4553712" y="4617720"/>
            <a:ext cx="3108960" cy="365760"/>
          </a:xfrm>
          <a:prstGeom prst="rect">
            <a:avLst/>
          </a:prstGeom>
          <a:noFill/>
          <a:ln/>
        </p:spPr>
        <p:txBody>
          <a:bodyPr wrap="square" rtlCol="0" anchor="ctr"/>
          <a:lstStyle/>
          <a:p>
            <a:pPr indent="0" marL="0">
              <a:buNone/>
            </a:pPr>
            <a:r>
              <a:rPr lang="en-US" sz="1500" b="1" dirty="0">
                <a:solidFill>
                  <a:srgbClr val="1E2761"/>
                </a:solidFill>
                <a:latin typeface="Calibri" pitchFamily="34" charset="0"/>
                <a:ea typeface="Calibri" pitchFamily="34" charset="-122"/>
                <a:cs typeface="Calibri" pitchFamily="34" charset="-120"/>
              </a:rPr>
              <a:t>Hard to compare</a:t>
            </a:r>
            <a:endParaRPr lang="en-US" sz="1500" dirty="0"/>
          </a:p>
        </p:txBody>
      </p:sp>
      <p:sp>
        <p:nvSpPr>
          <p:cNvPr id="12" name="Text 10"/>
          <p:cNvSpPr txBox="1"/>
          <p:nvPr/>
        </p:nvSpPr>
        <p:spPr>
          <a:xfrm>
            <a:off x="4553712" y="4983480"/>
            <a:ext cx="3108960" cy="822960"/>
          </a:xfrm>
          <a:prstGeom prst="rect">
            <a:avLst/>
          </a:prstGeom>
          <a:noFill/>
          <a:ln/>
        </p:spPr>
        <p:txBody>
          <a:bodyPr wrap="square" rtlCol="0" anchor="ctr"/>
          <a:lstStyle/>
          <a:p>
            <a:pPr indent="0" marL="0">
              <a:buNone/>
            </a:pPr>
            <a:r>
              <a:rPr lang="en-US" sz="1200" dirty="0">
                <a:solidFill>
                  <a:srgbClr val="5B6B8C"/>
                </a:solidFill>
                <a:latin typeface="Calibri" pitchFamily="34" charset="0"/>
                <a:ea typeface="Calibri" pitchFamily="34" charset="-122"/>
                <a:cs typeface="Calibri" pitchFamily="34" charset="-120"/>
              </a:rPr>
              <a:t>No easy way to see features side by side</a:t>
            </a:r>
            <a:endParaRPr lang="en-US" sz="1200" dirty="0"/>
          </a:p>
        </p:txBody>
      </p:sp>
      <p:sp>
        <p:nvSpPr>
          <p:cNvPr id="13" name="Shape 11"/>
          <p:cNvSpPr/>
          <p:nvPr/>
        </p:nvSpPr>
        <p:spPr>
          <a:xfrm>
            <a:off x="8101584" y="3931920"/>
            <a:ext cx="3520440" cy="2011680"/>
          </a:xfrm>
          <a:prstGeom prst="roundRect">
            <a:avLst>
              <a:gd name="adj" fmla="val 4545"/>
            </a:avLst>
          </a:prstGeom>
          <a:solidFill>
            <a:srgbClr val="FFFFFF"/>
          </a:solidFill>
          <a:ln/>
        </p:spPr>
      </p:sp>
      <p:sp>
        <p:nvSpPr>
          <p:cNvPr id="14" name="Text 12"/>
          <p:cNvSpPr txBox="1"/>
          <p:nvPr/>
        </p:nvSpPr>
        <p:spPr>
          <a:xfrm>
            <a:off x="8330184" y="4114800"/>
            <a:ext cx="914400" cy="548640"/>
          </a:xfrm>
          <a:prstGeom prst="rect">
            <a:avLst/>
          </a:prstGeom>
          <a:noFill/>
          <a:ln/>
        </p:spPr>
        <p:txBody>
          <a:bodyPr wrap="square" rtlCol="0" anchor="ctr"/>
          <a:lstStyle/>
          <a:p>
            <a:pPr indent="0" marL="0">
              <a:buNone/>
            </a:pPr>
            <a:r>
              <a:rPr lang="en-US" sz="2600" dirty="0">
                <a:solidFill>
                  <a:srgbClr val="000000"/>
                </a:solidFill>
              </a:rPr>
              <a:t>🔍</a:t>
            </a:r>
            <a:endParaRPr lang="en-US" sz="2600" dirty="0"/>
          </a:p>
        </p:txBody>
      </p:sp>
      <p:sp>
        <p:nvSpPr>
          <p:cNvPr id="15" name="Text 13"/>
          <p:cNvSpPr txBox="1"/>
          <p:nvPr/>
        </p:nvSpPr>
        <p:spPr>
          <a:xfrm>
            <a:off x="8330184" y="4617720"/>
            <a:ext cx="3108960" cy="365760"/>
          </a:xfrm>
          <a:prstGeom prst="rect">
            <a:avLst/>
          </a:prstGeom>
          <a:noFill/>
          <a:ln/>
        </p:spPr>
        <p:txBody>
          <a:bodyPr wrap="square" rtlCol="0" anchor="ctr"/>
          <a:lstStyle/>
          <a:p>
            <a:pPr indent="0" marL="0">
              <a:buNone/>
            </a:pPr>
            <a:r>
              <a:rPr lang="en-US" sz="1500" b="1" dirty="0">
                <a:solidFill>
                  <a:srgbClr val="1E2761"/>
                </a:solidFill>
                <a:latin typeface="Calibri" pitchFamily="34" charset="0"/>
                <a:ea typeface="Calibri" pitchFamily="34" charset="-122"/>
                <a:cs typeface="Calibri" pitchFamily="34" charset="-120"/>
              </a:rPr>
              <a:t>Info overload</a:t>
            </a:r>
            <a:endParaRPr lang="en-US" sz="1500" dirty="0"/>
          </a:p>
        </p:txBody>
      </p:sp>
      <p:sp>
        <p:nvSpPr>
          <p:cNvPr id="16" name="Text 14"/>
          <p:cNvSpPr txBox="1"/>
          <p:nvPr/>
        </p:nvSpPr>
        <p:spPr>
          <a:xfrm>
            <a:off x="8330184" y="4983480"/>
            <a:ext cx="3108960" cy="822960"/>
          </a:xfrm>
          <a:prstGeom prst="rect">
            <a:avLst/>
          </a:prstGeom>
          <a:noFill/>
          <a:ln/>
        </p:spPr>
        <p:txBody>
          <a:bodyPr wrap="square" rtlCol="0" anchor="ctr"/>
          <a:lstStyle/>
          <a:p>
            <a:pPr indent="0" marL="0">
              <a:buNone/>
            </a:pPr>
            <a:r>
              <a:rPr lang="en-US" sz="1200" dirty="0">
                <a:solidFill>
                  <a:srgbClr val="5B6B8C"/>
                </a:solidFill>
                <a:latin typeface="Calibri" pitchFamily="34" charset="0"/>
                <a:ea typeface="Calibri" pitchFamily="34" charset="-122"/>
                <a:cs typeface="Calibri" pitchFamily="34" charset="-120"/>
              </a:rPr>
              <a:t>Official docs are dense and technical</a:t>
            </a:r>
            <a:endParaRPr lang="en-US" sz="1200" dirty="0"/>
          </a:p>
        </p:txBody>
      </p:sp>
      <p:sp>
        <p:nvSpPr>
          <p:cNvPr id="17" name="Text 15"/>
          <p:cNvSpPr/>
          <p:nvPr/>
        </p:nvSpPr>
        <p:spPr>
          <a:xfrm>
            <a:off x="457200" y="6510528"/>
            <a:ext cx="5486400" cy="274320"/>
          </a:xfrm>
          <a:prstGeom prst="rect">
            <a:avLst/>
          </a:prstGeom>
          <a:noFill/>
          <a:ln/>
        </p:spPr>
        <p:txBody>
          <a:bodyPr wrap="square" rtlCol="0" anchor="ctr"/>
          <a:lstStyle/>
          <a:p>
            <a:pPr algn="l" indent="0" marL="0">
              <a:buNone/>
            </a:pPr>
            <a:r>
              <a:rPr lang="en-US" sz="900" dirty="0">
                <a:solidFill>
                  <a:srgbClr val="CADCFC"/>
                </a:solidFill>
                <a:latin typeface="Calibri" pitchFamily="34" charset="0"/>
                <a:ea typeface="Calibri" pitchFamily="34" charset="-122"/>
                <a:cs typeface="Calibri" pitchFamily="34" charset="-120"/>
              </a:rPr>
              <a:t>AWS Service Explorer</a:t>
            </a:r>
            <a:endParaRPr lang="en-US" sz="900" dirty="0"/>
          </a:p>
        </p:txBody>
      </p:sp>
      <p:sp>
        <p:nvSpPr>
          <p:cNvPr id="18" name="Text 16"/>
          <p:cNvSpPr/>
          <p:nvPr/>
        </p:nvSpPr>
        <p:spPr>
          <a:xfrm>
            <a:off x="11430000" y="6510528"/>
            <a:ext cx="365760" cy="274320"/>
          </a:xfrm>
          <a:prstGeom prst="rect">
            <a:avLst/>
          </a:prstGeom>
          <a:noFill/>
          <a:ln/>
        </p:spPr>
        <p:txBody>
          <a:bodyPr wrap="square" rtlCol="0" anchor="ctr"/>
          <a:lstStyle/>
          <a:p>
            <a:pPr algn="r" indent="0" marL="0">
              <a:buNone/>
            </a:pPr>
            <a:r>
              <a:rPr lang="en-US" sz="900" dirty="0">
                <a:solidFill>
                  <a:srgbClr val="CADCFC"/>
                </a:solidFill>
                <a:latin typeface="Calibri" pitchFamily="34" charset="0"/>
                <a:ea typeface="Calibri" pitchFamily="34" charset="-122"/>
                <a:cs typeface="Calibri" pitchFamily="34" charset="-120"/>
              </a:rPr>
              <a:t>3</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11480"/>
            <a:ext cx="8229600" cy="640080"/>
          </a:xfrm>
          <a:prstGeom prst="rect">
            <a:avLst/>
          </a:prstGeom>
          <a:noFill/>
          <a:ln/>
        </p:spPr>
        <p:txBody>
          <a:bodyPr wrap="square" rtlCol="0" anchor="ctr"/>
          <a:lstStyle/>
          <a:p>
            <a:pPr indent="0" marL="0">
              <a:buNone/>
            </a:pPr>
            <a:r>
              <a:rPr lang="en-US" sz="3200" b="1" dirty="0">
                <a:solidFill>
                  <a:srgbClr val="1E2761"/>
                </a:solidFill>
                <a:latin typeface="Cambria" pitchFamily="34" charset="0"/>
                <a:ea typeface="Cambria" pitchFamily="34" charset="-122"/>
                <a:cs typeface="Cambria" pitchFamily="34" charset="-120"/>
              </a:rPr>
              <a:t>Project Objectives</a:t>
            </a:r>
            <a:endParaRPr lang="en-US" sz="3200" dirty="0"/>
          </a:p>
        </p:txBody>
      </p:sp>
      <p:sp>
        <p:nvSpPr>
          <p:cNvPr id="3" name="Shape 1"/>
          <p:cNvSpPr/>
          <p:nvPr/>
        </p:nvSpPr>
        <p:spPr>
          <a:xfrm>
            <a:off x="548640" y="1463040"/>
            <a:ext cx="5394960" cy="1280160"/>
          </a:xfrm>
          <a:prstGeom prst="roundRect">
            <a:avLst>
              <a:gd name="adj" fmla="val 7143"/>
            </a:avLst>
          </a:prstGeom>
          <a:solidFill>
            <a:srgbClr val="F4F7FD"/>
          </a:solidFill>
          <a:ln/>
        </p:spPr>
      </p:sp>
      <p:sp>
        <p:nvSpPr>
          <p:cNvPr id="4" name="Shape 2"/>
          <p:cNvSpPr/>
          <p:nvPr/>
        </p:nvSpPr>
        <p:spPr>
          <a:xfrm>
            <a:off x="777240" y="1783080"/>
            <a:ext cx="640080" cy="640080"/>
          </a:xfrm>
          <a:prstGeom prst="ellipse">
            <a:avLst/>
          </a:prstGeom>
          <a:solidFill>
            <a:srgbClr val="F2994A"/>
          </a:solidFill>
          <a:ln/>
        </p:spPr>
      </p:sp>
      <p:sp>
        <p:nvSpPr>
          <p:cNvPr id="5" name="Text 3"/>
          <p:cNvSpPr/>
          <p:nvPr/>
        </p:nvSpPr>
        <p:spPr>
          <a:xfrm>
            <a:off x="777240" y="1783080"/>
            <a:ext cx="640080" cy="640080"/>
          </a:xfrm>
          <a:prstGeom prst="rect">
            <a:avLst/>
          </a:prstGeom>
          <a:noFill/>
          <a:ln/>
        </p:spPr>
        <p:txBody>
          <a:bodyPr wrap="square" rtlCol="0" anchor="ctr"/>
          <a:lstStyle/>
          <a:p>
            <a:pPr algn="ctr" indent="0" marL="0">
              <a:buNone/>
            </a:pPr>
            <a:r>
              <a:rPr lang="en-US" sz="1960" b="1" dirty="0">
                <a:solidFill>
                  <a:srgbClr val="FFFFFF"/>
                </a:solidFill>
                <a:latin typeface="Arial" pitchFamily="34" charset="0"/>
                <a:ea typeface="Arial" pitchFamily="34" charset="-122"/>
                <a:cs typeface="Arial" pitchFamily="34" charset="-120"/>
              </a:rPr>
              <a:t>1</a:t>
            </a:r>
            <a:endParaRPr lang="en-US" sz="1960" dirty="0"/>
          </a:p>
        </p:txBody>
      </p:sp>
      <p:sp>
        <p:nvSpPr>
          <p:cNvPr id="6" name="Text 4"/>
          <p:cNvSpPr txBox="1"/>
          <p:nvPr/>
        </p:nvSpPr>
        <p:spPr>
          <a:xfrm>
            <a:off x="1600200" y="1600200"/>
            <a:ext cx="4114800" cy="1005840"/>
          </a:xfrm>
          <a:prstGeom prst="rect">
            <a:avLst/>
          </a:prstGeom>
          <a:noFill/>
          <a:ln/>
        </p:spPr>
        <p:txBody>
          <a:bodyPr wrap="square" rtlCol="0" anchor="ctr"/>
          <a:lstStyle/>
          <a:p>
            <a:pPr indent="0" marL="0">
              <a:buNone/>
            </a:pPr>
            <a:r>
              <a:rPr lang="en-US" sz="1350" dirty="0">
                <a:solidFill>
                  <a:srgbClr val="1E2761"/>
                </a:solidFill>
                <a:latin typeface="Calibri" pitchFamily="34" charset="0"/>
                <a:ea typeface="Calibri" pitchFamily="34" charset="-122"/>
                <a:cs typeface="Calibri" pitchFamily="34" charset="-120"/>
              </a:rPr>
              <a:t>Develop a simple web application for exploring AWS services</a:t>
            </a:r>
            <a:endParaRPr lang="en-US" sz="1350" dirty="0"/>
          </a:p>
        </p:txBody>
      </p:sp>
      <p:sp>
        <p:nvSpPr>
          <p:cNvPr id="7" name="Shape 5"/>
          <p:cNvSpPr/>
          <p:nvPr/>
        </p:nvSpPr>
        <p:spPr>
          <a:xfrm>
            <a:off x="6309360" y="1463040"/>
            <a:ext cx="5394960" cy="1280160"/>
          </a:xfrm>
          <a:prstGeom prst="roundRect">
            <a:avLst>
              <a:gd name="adj" fmla="val 7143"/>
            </a:avLst>
          </a:prstGeom>
          <a:solidFill>
            <a:srgbClr val="F4F7FD"/>
          </a:solidFill>
          <a:ln/>
        </p:spPr>
      </p:sp>
      <p:sp>
        <p:nvSpPr>
          <p:cNvPr id="8" name="Shape 6"/>
          <p:cNvSpPr/>
          <p:nvPr/>
        </p:nvSpPr>
        <p:spPr>
          <a:xfrm>
            <a:off x="6537960" y="1783080"/>
            <a:ext cx="640080" cy="640080"/>
          </a:xfrm>
          <a:prstGeom prst="ellipse">
            <a:avLst/>
          </a:prstGeom>
          <a:solidFill>
            <a:srgbClr val="F2994A"/>
          </a:solidFill>
          <a:ln/>
        </p:spPr>
      </p:sp>
      <p:sp>
        <p:nvSpPr>
          <p:cNvPr id="9" name="Text 7"/>
          <p:cNvSpPr/>
          <p:nvPr/>
        </p:nvSpPr>
        <p:spPr>
          <a:xfrm>
            <a:off x="6537960" y="1783080"/>
            <a:ext cx="640080" cy="640080"/>
          </a:xfrm>
          <a:prstGeom prst="rect">
            <a:avLst/>
          </a:prstGeom>
          <a:noFill/>
          <a:ln/>
        </p:spPr>
        <p:txBody>
          <a:bodyPr wrap="square" rtlCol="0" anchor="ctr"/>
          <a:lstStyle/>
          <a:p>
            <a:pPr algn="ctr" indent="0" marL="0">
              <a:buNone/>
            </a:pPr>
            <a:r>
              <a:rPr lang="en-US" sz="1960" b="1" dirty="0">
                <a:solidFill>
                  <a:srgbClr val="FFFFFF"/>
                </a:solidFill>
                <a:latin typeface="Arial" pitchFamily="34" charset="0"/>
                <a:ea typeface="Arial" pitchFamily="34" charset="-122"/>
                <a:cs typeface="Arial" pitchFamily="34" charset="-120"/>
              </a:rPr>
              <a:t>2</a:t>
            </a:r>
            <a:endParaRPr lang="en-US" sz="1960" dirty="0"/>
          </a:p>
        </p:txBody>
      </p:sp>
      <p:sp>
        <p:nvSpPr>
          <p:cNvPr id="10" name="Text 8"/>
          <p:cNvSpPr txBox="1"/>
          <p:nvPr/>
        </p:nvSpPr>
        <p:spPr>
          <a:xfrm>
            <a:off x="7360920" y="1600200"/>
            <a:ext cx="4114800" cy="1005840"/>
          </a:xfrm>
          <a:prstGeom prst="rect">
            <a:avLst/>
          </a:prstGeom>
          <a:noFill/>
          <a:ln/>
        </p:spPr>
        <p:txBody>
          <a:bodyPr wrap="square" rtlCol="0" anchor="ctr"/>
          <a:lstStyle/>
          <a:p>
            <a:pPr indent="0" marL="0">
              <a:buNone/>
            </a:pPr>
            <a:r>
              <a:rPr lang="en-US" sz="1350" dirty="0">
                <a:solidFill>
                  <a:srgbClr val="1E2761"/>
                </a:solidFill>
                <a:latin typeface="Calibri" pitchFamily="34" charset="0"/>
                <a:ea typeface="Calibri" pitchFamily="34" charset="-122"/>
                <a:cs typeface="Calibri" pitchFamily="34" charset="-120"/>
              </a:rPr>
              <a:t>Provide basic information about selected AWS services</a:t>
            </a:r>
            <a:endParaRPr lang="en-US" sz="1350" dirty="0"/>
          </a:p>
        </p:txBody>
      </p:sp>
      <p:sp>
        <p:nvSpPr>
          <p:cNvPr id="11" name="Shape 9"/>
          <p:cNvSpPr/>
          <p:nvPr/>
        </p:nvSpPr>
        <p:spPr>
          <a:xfrm>
            <a:off x="548640" y="3017520"/>
            <a:ext cx="5394960" cy="1280160"/>
          </a:xfrm>
          <a:prstGeom prst="roundRect">
            <a:avLst>
              <a:gd name="adj" fmla="val 7143"/>
            </a:avLst>
          </a:prstGeom>
          <a:solidFill>
            <a:srgbClr val="F4F7FD"/>
          </a:solidFill>
          <a:ln/>
        </p:spPr>
      </p:sp>
      <p:sp>
        <p:nvSpPr>
          <p:cNvPr id="12" name="Shape 10"/>
          <p:cNvSpPr/>
          <p:nvPr/>
        </p:nvSpPr>
        <p:spPr>
          <a:xfrm>
            <a:off x="777240" y="3337560"/>
            <a:ext cx="640080" cy="640080"/>
          </a:xfrm>
          <a:prstGeom prst="ellipse">
            <a:avLst/>
          </a:prstGeom>
          <a:solidFill>
            <a:srgbClr val="F2994A"/>
          </a:solidFill>
          <a:ln/>
        </p:spPr>
      </p:sp>
      <p:sp>
        <p:nvSpPr>
          <p:cNvPr id="13" name="Text 11"/>
          <p:cNvSpPr/>
          <p:nvPr/>
        </p:nvSpPr>
        <p:spPr>
          <a:xfrm>
            <a:off x="777240" y="3337560"/>
            <a:ext cx="640080" cy="640080"/>
          </a:xfrm>
          <a:prstGeom prst="rect">
            <a:avLst/>
          </a:prstGeom>
          <a:noFill/>
          <a:ln/>
        </p:spPr>
        <p:txBody>
          <a:bodyPr wrap="square" rtlCol="0" anchor="ctr"/>
          <a:lstStyle/>
          <a:p>
            <a:pPr algn="ctr" indent="0" marL="0">
              <a:buNone/>
            </a:pPr>
            <a:r>
              <a:rPr lang="en-US" sz="1960" b="1" dirty="0">
                <a:solidFill>
                  <a:srgbClr val="FFFFFF"/>
                </a:solidFill>
                <a:latin typeface="Arial" pitchFamily="34" charset="0"/>
                <a:ea typeface="Arial" pitchFamily="34" charset="-122"/>
                <a:cs typeface="Arial" pitchFamily="34" charset="-120"/>
              </a:rPr>
              <a:t>3</a:t>
            </a:r>
            <a:endParaRPr lang="en-US" sz="1960" dirty="0"/>
          </a:p>
        </p:txBody>
      </p:sp>
      <p:sp>
        <p:nvSpPr>
          <p:cNvPr id="14" name="Text 12"/>
          <p:cNvSpPr txBox="1"/>
          <p:nvPr/>
        </p:nvSpPr>
        <p:spPr>
          <a:xfrm>
            <a:off x="1600200" y="3154680"/>
            <a:ext cx="4114800" cy="1005840"/>
          </a:xfrm>
          <a:prstGeom prst="rect">
            <a:avLst/>
          </a:prstGeom>
          <a:noFill/>
          <a:ln/>
        </p:spPr>
        <p:txBody>
          <a:bodyPr wrap="square" rtlCol="0" anchor="ctr"/>
          <a:lstStyle/>
          <a:p>
            <a:pPr indent="0" marL="0">
              <a:buNone/>
            </a:pPr>
            <a:r>
              <a:rPr lang="en-US" sz="1350" dirty="0">
                <a:solidFill>
                  <a:srgbClr val="1E2761"/>
                </a:solidFill>
                <a:latin typeface="Calibri" pitchFamily="34" charset="0"/>
                <a:ea typeface="Calibri" pitchFamily="34" charset="-122"/>
                <a:cs typeface="Calibri" pitchFamily="34" charset="-120"/>
              </a:rPr>
              <a:t>Display key features and business applications</a:t>
            </a:r>
            <a:endParaRPr lang="en-US" sz="1350" dirty="0"/>
          </a:p>
        </p:txBody>
      </p:sp>
      <p:sp>
        <p:nvSpPr>
          <p:cNvPr id="15" name="Shape 13"/>
          <p:cNvSpPr/>
          <p:nvPr/>
        </p:nvSpPr>
        <p:spPr>
          <a:xfrm>
            <a:off x="6309360" y="3017520"/>
            <a:ext cx="5394960" cy="1280160"/>
          </a:xfrm>
          <a:prstGeom prst="roundRect">
            <a:avLst>
              <a:gd name="adj" fmla="val 7143"/>
            </a:avLst>
          </a:prstGeom>
          <a:solidFill>
            <a:srgbClr val="F4F7FD"/>
          </a:solidFill>
          <a:ln/>
        </p:spPr>
      </p:sp>
      <p:sp>
        <p:nvSpPr>
          <p:cNvPr id="16" name="Shape 14"/>
          <p:cNvSpPr/>
          <p:nvPr/>
        </p:nvSpPr>
        <p:spPr>
          <a:xfrm>
            <a:off x="6537960" y="3337560"/>
            <a:ext cx="640080" cy="640080"/>
          </a:xfrm>
          <a:prstGeom prst="ellipse">
            <a:avLst/>
          </a:prstGeom>
          <a:solidFill>
            <a:srgbClr val="F2994A"/>
          </a:solidFill>
          <a:ln/>
        </p:spPr>
      </p:sp>
      <p:sp>
        <p:nvSpPr>
          <p:cNvPr id="17" name="Text 15"/>
          <p:cNvSpPr/>
          <p:nvPr/>
        </p:nvSpPr>
        <p:spPr>
          <a:xfrm>
            <a:off x="6537960" y="3337560"/>
            <a:ext cx="640080" cy="640080"/>
          </a:xfrm>
          <a:prstGeom prst="rect">
            <a:avLst/>
          </a:prstGeom>
          <a:noFill/>
          <a:ln/>
        </p:spPr>
        <p:txBody>
          <a:bodyPr wrap="square" rtlCol="0" anchor="ctr"/>
          <a:lstStyle/>
          <a:p>
            <a:pPr algn="ctr" indent="0" marL="0">
              <a:buNone/>
            </a:pPr>
            <a:r>
              <a:rPr lang="en-US" sz="1960" b="1" dirty="0">
                <a:solidFill>
                  <a:srgbClr val="FFFFFF"/>
                </a:solidFill>
                <a:latin typeface="Arial" pitchFamily="34" charset="0"/>
                <a:ea typeface="Arial" pitchFamily="34" charset="-122"/>
                <a:cs typeface="Arial" pitchFamily="34" charset="-120"/>
              </a:rPr>
              <a:t>4</a:t>
            </a:r>
            <a:endParaRPr lang="en-US" sz="1960" dirty="0"/>
          </a:p>
        </p:txBody>
      </p:sp>
      <p:sp>
        <p:nvSpPr>
          <p:cNvPr id="18" name="Text 16"/>
          <p:cNvSpPr txBox="1"/>
          <p:nvPr/>
        </p:nvSpPr>
        <p:spPr>
          <a:xfrm>
            <a:off x="7360920" y="3154680"/>
            <a:ext cx="4114800" cy="1005840"/>
          </a:xfrm>
          <a:prstGeom prst="rect">
            <a:avLst/>
          </a:prstGeom>
          <a:noFill/>
          <a:ln/>
        </p:spPr>
        <p:txBody>
          <a:bodyPr wrap="square" rtlCol="0" anchor="ctr"/>
          <a:lstStyle/>
          <a:p>
            <a:pPr indent="0" marL="0">
              <a:buNone/>
            </a:pPr>
            <a:r>
              <a:rPr lang="en-US" sz="1350" dirty="0">
                <a:solidFill>
                  <a:srgbClr val="1E2761"/>
                </a:solidFill>
                <a:latin typeface="Calibri" pitchFamily="34" charset="0"/>
                <a:ea typeface="Calibri" pitchFamily="34" charset="-122"/>
                <a:cs typeface="Calibri" pitchFamily="34" charset="-120"/>
              </a:rPr>
              <a:t>Allow users to search AWS services by name or category</a:t>
            </a:r>
            <a:endParaRPr lang="en-US" sz="1350" dirty="0"/>
          </a:p>
        </p:txBody>
      </p:sp>
      <p:sp>
        <p:nvSpPr>
          <p:cNvPr id="19" name="Shape 17"/>
          <p:cNvSpPr/>
          <p:nvPr/>
        </p:nvSpPr>
        <p:spPr>
          <a:xfrm>
            <a:off x="548640" y="4572000"/>
            <a:ext cx="5394960" cy="1280160"/>
          </a:xfrm>
          <a:prstGeom prst="roundRect">
            <a:avLst>
              <a:gd name="adj" fmla="val 7143"/>
            </a:avLst>
          </a:prstGeom>
          <a:solidFill>
            <a:srgbClr val="F4F7FD"/>
          </a:solidFill>
          <a:ln/>
        </p:spPr>
      </p:sp>
      <p:sp>
        <p:nvSpPr>
          <p:cNvPr id="20" name="Shape 18"/>
          <p:cNvSpPr/>
          <p:nvPr/>
        </p:nvSpPr>
        <p:spPr>
          <a:xfrm>
            <a:off x="777240" y="4892040"/>
            <a:ext cx="640080" cy="640080"/>
          </a:xfrm>
          <a:prstGeom prst="ellipse">
            <a:avLst/>
          </a:prstGeom>
          <a:solidFill>
            <a:srgbClr val="F2994A"/>
          </a:solidFill>
          <a:ln/>
        </p:spPr>
      </p:sp>
      <p:sp>
        <p:nvSpPr>
          <p:cNvPr id="21" name="Text 19"/>
          <p:cNvSpPr/>
          <p:nvPr/>
        </p:nvSpPr>
        <p:spPr>
          <a:xfrm>
            <a:off x="777240" y="4892040"/>
            <a:ext cx="640080" cy="640080"/>
          </a:xfrm>
          <a:prstGeom prst="rect">
            <a:avLst/>
          </a:prstGeom>
          <a:noFill/>
          <a:ln/>
        </p:spPr>
        <p:txBody>
          <a:bodyPr wrap="square" rtlCol="0" anchor="ctr"/>
          <a:lstStyle/>
          <a:p>
            <a:pPr algn="ctr" indent="0" marL="0">
              <a:buNone/>
            </a:pPr>
            <a:r>
              <a:rPr lang="en-US" sz="1960" b="1" dirty="0">
                <a:solidFill>
                  <a:srgbClr val="FFFFFF"/>
                </a:solidFill>
                <a:latin typeface="Arial" pitchFamily="34" charset="0"/>
                <a:ea typeface="Arial" pitchFamily="34" charset="-122"/>
                <a:cs typeface="Arial" pitchFamily="34" charset="-120"/>
              </a:rPr>
              <a:t>5</a:t>
            </a:r>
            <a:endParaRPr lang="en-US" sz="1960" dirty="0"/>
          </a:p>
        </p:txBody>
      </p:sp>
      <p:sp>
        <p:nvSpPr>
          <p:cNvPr id="22" name="Text 20"/>
          <p:cNvSpPr txBox="1"/>
          <p:nvPr/>
        </p:nvSpPr>
        <p:spPr>
          <a:xfrm>
            <a:off x="1600200" y="4709160"/>
            <a:ext cx="4114800" cy="1005840"/>
          </a:xfrm>
          <a:prstGeom prst="rect">
            <a:avLst/>
          </a:prstGeom>
          <a:noFill/>
          <a:ln/>
        </p:spPr>
        <p:txBody>
          <a:bodyPr wrap="square" rtlCol="0" anchor="ctr"/>
          <a:lstStyle/>
          <a:p>
            <a:pPr indent="0" marL="0">
              <a:buNone/>
            </a:pPr>
            <a:r>
              <a:rPr lang="en-US" sz="1350" dirty="0">
                <a:solidFill>
                  <a:srgbClr val="1E2761"/>
                </a:solidFill>
                <a:latin typeface="Calibri" pitchFamily="34" charset="0"/>
                <a:ea typeface="Calibri" pitchFamily="34" charset="-122"/>
                <a:cs typeface="Calibri" pitchFamily="34" charset="-120"/>
              </a:rPr>
              <a:t>Provide a simple comparison between two AWS services</a:t>
            </a:r>
            <a:endParaRPr lang="en-US" sz="1350" dirty="0"/>
          </a:p>
        </p:txBody>
      </p:sp>
      <p:sp>
        <p:nvSpPr>
          <p:cNvPr id="23" name="Shape 21"/>
          <p:cNvSpPr/>
          <p:nvPr/>
        </p:nvSpPr>
        <p:spPr>
          <a:xfrm>
            <a:off x="6309360" y="4572000"/>
            <a:ext cx="5394960" cy="1280160"/>
          </a:xfrm>
          <a:prstGeom prst="roundRect">
            <a:avLst>
              <a:gd name="adj" fmla="val 7143"/>
            </a:avLst>
          </a:prstGeom>
          <a:solidFill>
            <a:srgbClr val="F4F7FD"/>
          </a:solidFill>
          <a:ln/>
        </p:spPr>
      </p:sp>
      <p:sp>
        <p:nvSpPr>
          <p:cNvPr id="24" name="Shape 22"/>
          <p:cNvSpPr/>
          <p:nvPr/>
        </p:nvSpPr>
        <p:spPr>
          <a:xfrm>
            <a:off x="6537960" y="4892040"/>
            <a:ext cx="640080" cy="640080"/>
          </a:xfrm>
          <a:prstGeom prst="ellipse">
            <a:avLst/>
          </a:prstGeom>
          <a:solidFill>
            <a:srgbClr val="F2994A"/>
          </a:solidFill>
          <a:ln/>
        </p:spPr>
      </p:sp>
      <p:sp>
        <p:nvSpPr>
          <p:cNvPr id="25" name="Text 23"/>
          <p:cNvSpPr/>
          <p:nvPr/>
        </p:nvSpPr>
        <p:spPr>
          <a:xfrm>
            <a:off x="6537960" y="4892040"/>
            <a:ext cx="640080" cy="640080"/>
          </a:xfrm>
          <a:prstGeom prst="rect">
            <a:avLst/>
          </a:prstGeom>
          <a:noFill/>
          <a:ln/>
        </p:spPr>
        <p:txBody>
          <a:bodyPr wrap="square" rtlCol="0" anchor="ctr"/>
          <a:lstStyle/>
          <a:p>
            <a:pPr algn="ctr" indent="0" marL="0">
              <a:buNone/>
            </a:pPr>
            <a:r>
              <a:rPr lang="en-US" sz="1960" b="1" dirty="0">
                <a:solidFill>
                  <a:srgbClr val="FFFFFF"/>
                </a:solidFill>
                <a:latin typeface="Arial" pitchFamily="34" charset="0"/>
                <a:ea typeface="Arial" pitchFamily="34" charset="-122"/>
                <a:cs typeface="Arial" pitchFamily="34" charset="-120"/>
              </a:rPr>
              <a:t>6</a:t>
            </a:r>
            <a:endParaRPr lang="en-US" sz="1960" dirty="0"/>
          </a:p>
        </p:txBody>
      </p:sp>
      <p:sp>
        <p:nvSpPr>
          <p:cNvPr id="26" name="Text 24"/>
          <p:cNvSpPr txBox="1"/>
          <p:nvPr/>
        </p:nvSpPr>
        <p:spPr>
          <a:xfrm>
            <a:off x="7360920" y="4709160"/>
            <a:ext cx="4114800" cy="1005840"/>
          </a:xfrm>
          <a:prstGeom prst="rect">
            <a:avLst/>
          </a:prstGeom>
          <a:noFill/>
          <a:ln/>
        </p:spPr>
        <p:txBody>
          <a:bodyPr wrap="square" rtlCol="0" anchor="ctr"/>
          <a:lstStyle/>
          <a:p>
            <a:pPr indent="0" marL="0">
              <a:buNone/>
            </a:pPr>
            <a:r>
              <a:rPr lang="en-US" sz="1350" dirty="0">
                <a:solidFill>
                  <a:srgbClr val="1E2761"/>
                </a:solidFill>
                <a:latin typeface="Calibri" pitchFamily="34" charset="0"/>
                <a:ea typeface="Calibri" pitchFamily="34" charset="-122"/>
                <a:cs typeface="Calibri" pitchFamily="34" charset="-120"/>
              </a:rPr>
              <a:t>Create an easy-to-use learning interface for beginners</a:t>
            </a:r>
            <a:endParaRPr lang="en-US" sz="1350" dirty="0"/>
          </a:p>
        </p:txBody>
      </p:sp>
      <p:sp>
        <p:nvSpPr>
          <p:cNvPr id="27" name="Text 25"/>
          <p:cNvSpPr/>
          <p:nvPr/>
        </p:nvSpPr>
        <p:spPr>
          <a:xfrm>
            <a:off x="457200" y="6510528"/>
            <a:ext cx="5486400" cy="274320"/>
          </a:xfrm>
          <a:prstGeom prst="rect">
            <a:avLst/>
          </a:prstGeom>
          <a:noFill/>
          <a:ln/>
        </p:spPr>
        <p:txBody>
          <a:bodyPr wrap="square" rtlCol="0" anchor="ctr"/>
          <a:lstStyle/>
          <a:p>
            <a:pPr algn="l" indent="0" marL="0">
              <a:buNone/>
            </a:pPr>
            <a:r>
              <a:rPr lang="en-US" sz="900" dirty="0">
                <a:solidFill>
                  <a:srgbClr val="5B6B8C"/>
                </a:solidFill>
                <a:latin typeface="Calibri" pitchFamily="34" charset="0"/>
                <a:ea typeface="Calibri" pitchFamily="34" charset="-122"/>
                <a:cs typeface="Calibri" pitchFamily="34" charset="-120"/>
              </a:rPr>
              <a:t>AWS Service Explorer</a:t>
            </a:r>
            <a:endParaRPr lang="en-US" sz="900" dirty="0"/>
          </a:p>
        </p:txBody>
      </p:sp>
      <p:sp>
        <p:nvSpPr>
          <p:cNvPr id="28" name="Text 26"/>
          <p:cNvSpPr/>
          <p:nvPr/>
        </p:nvSpPr>
        <p:spPr>
          <a:xfrm>
            <a:off x="11430000" y="6510528"/>
            <a:ext cx="365760" cy="274320"/>
          </a:xfrm>
          <a:prstGeom prst="rect">
            <a:avLst/>
          </a:prstGeom>
          <a:noFill/>
          <a:ln/>
        </p:spPr>
        <p:txBody>
          <a:bodyPr wrap="square" rtlCol="0" anchor="ctr"/>
          <a:lstStyle/>
          <a:p>
            <a:pPr algn="r" indent="0" marL="0">
              <a:buNone/>
            </a:pPr>
            <a:r>
              <a:rPr lang="en-US" sz="900" dirty="0">
                <a:solidFill>
                  <a:srgbClr val="5B6B8C"/>
                </a:solidFill>
                <a:latin typeface="Calibri" pitchFamily="34" charset="0"/>
                <a:ea typeface="Calibri" pitchFamily="34" charset="-122"/>
                <a:cs typeface="Calibri" pitchFamily="34" charset="-120"/>
              </a:rPr>
              <a:t>4</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11480"/>
            <a:ext cx="9144000" cy="640080"/>
          </a:xfrm>
          <a:prstGeom prst="rect">
            <a:avLst/>
          </a:prstGeom>
          <a:noFill/>
          <a:ln/>
        </p:spPr>
        <p:txBody>
          <a:bodyPr wrap="square" rtlCol="0" anchor="ctr"/>
          <a:lstStyle/>
          <a:p>
            <a:pPr indent="0" marL="0">
              <a:buNone/>
            </a:pPr>
            <a:r>
              <a:rPr lang="en-US" sz="3200" b="1" dirty="0">
                <a:solidFill>
                  <a:srgbClr val="1E2761"/>
                </a:solidFill>
                <a:latin typeface="Cambria" pitchFamily="34" charset="0"/>
                <a:ea typeface="Cambria" pitchFamily="34" charset="-122"/>
                <a:cs typeface="Cambria" pitchFamily="34" charset="-120"/>
              </a:rPr>
              <a:t>Technologies &amp; Tools Used</a:t>
            </a:r>
            <a:endParaRPr lang="en-US" sz="3200" dirty="0"/>
          </a:p>
        </p:txBody>
      </p:sp>
      <p:sp>
        <p:nvSpPr>
          <p:cNvPr id="3" name="Shape 1"/>
          <p:cNvSpPr/>
          <p:nvPr/>
        </p:nvSpPr>
        <p:spPr>
          <a:xfrm>
            <a:off x="548640" y="1554480"/>
            <a:ext cx="3520440" cy="2011680"/>
          </a:xfrm>
          <a:prstGeom prst="roundRect">
            <a:avLst>
              <a:gd name="adj" fmla="val 4545"/>
            </a:avLst>
          </a:prstGeom>
          <a:solidFill>
            <a:srgbClr val="F4F7FD"/>
          </a:solidFill>
          <a:ln/>
        </p:spPr>
      </p:sp>
      <p:sp>
        <p:nvSpPr>
          <p:cNvPr id="4" name="Shape 2"/>
          <p:cNvSpPr/>
          <p:nvPr/>
        </p:nvSpPr>
        <p:spPr>
          <a:xfrm>
            <a:off x="777240" y="1783080"/>
            <a:ext cx="640080" cy="640080"/>
          </a:xfrm>
          <a:prstGeom prst="ellipse">
            <a:avLst/>
          </a:prstGeom>
          <a:solidFill>
            <a:srgbClr val="1E2761"/>
          </a:solidFill>
          <a:ln/>
        </p:spPr>
      </p:sp>
      <p:sp>
        <p:nvSpPr>
          <p:cNvPr id="5" name="Text 3"/>
          <p:cNvSpPr/>
          <p:nvPr/>
        </p:nvSpPr>
        <p:spPr>
          <a:xfrm>
            <a:off x="777240" y="1783080"/>
            <a:ext cx="640080" cy="640080"/>
          </a:xfrm>
          <a:prstGeom prst="rect">
            <a:avLst/>
          </a:prstGeom>
          <a:noFill/>
          <a:ln/>
        </p:spPr>
        <p:txBody>
          <a:bodyPr wrap="square" rtlCol="0" anchor="ctr"/>
          <a:lstStyle/>
          <a:p>
            <a:pPr algn="ctr" indent="0" marL="0">
              <a:buNone/>
            </a:pPr>
            <a:r>
              <a:rPr lang="en-US" sz="1960" b="1" dirty="0">
                <a:solidFill>
                  <a:srgbClr val="FFFFFF"/>
                </a:solidFill>
                <a:latin typeface="Arial" pitchFamily="34" charset="0"/>
                <a:ea typeface="Arial" pitchFamily="34" charset="-122"/>
                <a:cs typeface="Arial" pitchFamily="34" charset="-120"/>
              </a:rPr>
              <a:t>🐍</a:t>
            </a:r>
            <a:endParaRPr lang="en-US" sz="1960" dirty="0"/>
          </a:p>
        </p:txBody>
      </p:sp>
      <p:sp>
        <p:nvSpPr>
          <p:cNvPr id="6" name="Text 4"/>
          <p:cNvSpPr txBox="1"/>
          <p:nvPr/>
        </p:nvSpPr>
        <p:spPr>
          <a:xfrm>
            <a:off x="777240" y="2514600"/>
            <a:ext cx="3108960" cy="365760"/>
          </a:xfrm>
          <a:prstGeom prst="rect">
            <a:avLst/>
          </a:prstGeom>
          <a:noFill/>
          <a:ln/>
        </p:spPr>
        <p:txBody>
          <a:bodyPr wrap="square" rtlCol="0" anchor="ctr"/>
          <a:lstStyle/>
          <a:p>
            <a:pPr indent="0" marL="0">
              <a:buNone/>
            </a:pPr>
            <a:r>
              <a:rPr lang="en-US" sz="1500" b="1" dirty="0">
                <a:solidFill>
                  <a:srgbClr val="1E2761"/>
                </a:solidFill>
                <a:latin typeface="Calibri" pitchFamily="34" charset="0"/>
                <a:ea typeface="Calibri" pitchFamily="34" charset="-122"/>
                <a:cs typeface="Calibri" pitchFamily="34" charset="-120"/>
              </a:rPr>
              <a:t>Python</a:t>
            </a:r>
            <a:endParaRPr lang="en-US" sz="1500" dirty="0"/>
          </a:p>
        </p:txBody>
      </p:sp>
      <p:sp>
        <p:nvSpPr>
          <p:cNvPr id="7" name="Text 5"/>
          <p:cNvSpPr txBox="1"/>
          <p:nvPr/>
        </p:nvSpPr>
        <p:spPr>
          <a:xfrm>
            <a:off x="777240" y="2880360"/>
            <a:ext cx="3108960" cy="594360"/>
          </a:xfrm>
          <a:prstGeom prst="rect">
            <a:avLst/>
          </a:prstGeom>
          <a:noFill/>
          <a:ln/>
        </p:spPr>
        <p:txBody>
          <a:bodyPr wrap="square" rtlCol="0" anchor="ctr"/>
          <a:lstStyle/>
          <a:p>
            <a:pPr indent="0" marL="0">
              <a:buNone/>
            </a:pPr>
            <a:r>
              <a:rPr lang="en-US" sz="1150" dirty="0">
                <a:solidFill>
                  <a:srgbClr val="5B6B8C"/>
                </a:solidFill>
                <a:latin typeface="Calibri" pitchFamily="34" charset="0"/>
                <a:ea typeface="Calibri" pitchFamily="34" charset="-122"/>
                <a:cs typeface="Calibri" pitchFamily="34" charset="-120"/>
              </a:rPr>
              <a:t>Main programming language</a:t>
            </a:r>
            <a:endParaRPr lang="en-US" sz="1150" dirty="0"/>
          </a:p>
        </p:txBody>
      </p:sp>
      <p:sp>
        <p:nvSpPr>
          <p:cNvPr id="8" name="Shape 6"/>
          <p:cNvSpPr/>
          <p:nvPr/>
        </p:nvSpPr>
        <p:spPr>
          <a:xfrm>
            <a:off x="4325112" y="1554480"/>
            <a:ext cx="3520440" cy="2011680"/>
          </a:xfrm>
          <a:prstGeom prst="roundRect">
            <a:avLst>
              <a:gd name="adj" fmla="val 4545"/>
            </a:avLst>
          </a:prstGeom>
          <a:solidFill>
            <a:srgbClr val="F4F7FD"/>
          </a:solidFill>
          <a:ln/>
        </p:spPr>
      </p:sp>
      <p:sp>
        <p:nvSpPr>
          <p:cNvPr id="9" name="Shape 7"/>
          <p:cNvSpPr/>
          <p:nvPr/>
        </p:nvSpPr>
        <p:spPr>
          <a:xfrm>
            <a:off x="4553712" y="1783080"/>
            <a:ext cx="640080" cy="640080"/>
          </a:xfrm>
          <a:prstGeom prst="ellipse">
            <a:avLst/>
          </a:prstGeom>
          <a:solidFill>
            <a:srgbClr val="1E2761"/>
          </a:solidFill>
          <a:ln/>
        </p:spPr>
      </p:sp>
      <p:sp>
        <p:nvSpPr>
          <p:cNvPr id="10" name="Text 8"/>
          <p:cNvSpPr/>
          <p:nvPr/>
        </p:nvSpPr>
        <p:spPr>
          <a:xfrm>
            <a:off x="4553712" y="1783080"/>
            <a:ext cx="640080" cy="640080"/>
          </a:xfrm>
          <a:prstGeom prst="rect">
            <a:avLst/>
          </a:prstGeom>
          <a:noFill/>
          <a:ln/>
        </p:spPr>
        <p:txBody>
          <a:bodyPr wrap="square" rtlCol="0" anchor="ctr"/>
          <a:lstStyle/>
          <a:p>
            <a:pPr algn="ctr" indent="0" marL="0">
              <a:buNone/>
            </a:pPr>
            <a:r>
              <a:rPr lang="en-US" sz="1960" b="1" dirty="0">
                <a:solidFill>
                  <a:srgbClr val="FFFFFF"/>
                </a:solidFill>
                <a:latin typeface="Arial" pitchFamily="34" charset="0"/>
                <a:ea typeface="Arial" pitchFamily="34" charset="-122"/>
                <a:cs typeface="Arial" pitchFamily="34" charset="-120"/>
              </a:rPr>
              <a:t>⚡</a:t>
            </a:r>
            <a:endParaRPr lang="en-US" sz="1960" dirty="0"/>
          </a:p>
        </p:txBody>
      </p:sp>
      <p:sp>
        <p:nvSpPr>
          <p:cNvPr id="11" name="Text 9"/>
          <p:cNvSpPr txBox="1"/>
          <p:nvPr/>
        </p:nvSpPr>
        <p:spPr>
          <a:xfrm>
            <a:off x="4553712" y="2514600"/>
            <a:ext cx="3108960" cy="365760"/>
          </a:xfrm>
          <a:prstGeom prst="rect">
            <a:avLst/>
          </a:prstGeom>
          <a:noFill/>
          <a:ln/>
        </p:spPr>
        <p:txBody>
          <a:bodyPr wrap="square" rtlCol="0" anchor="ctr"/>
          <a:lstStyle/>
          <a:p>
            <a:pPr indent="0" marL="0">
              <a:buNone/>
            </a:pPr>
            <a:r>
              <a:rPr lang="en-US" sz="1500" b="1" dirty="0">
                <a:solidFill>
                  <a:srgbClr val="1E2761"/>
                </a:solidFill>
                <a:latin typeface="Calibri" pitchFamily="34" charset="0"/>
                <a:ea typeface="Calibri" pitchFamily="34" charset="-122"/>
                <a:cs typeface="Calibri" pitchFamily="34" charset="-120"/>
              </a:rPr>
              <a:t>Streamlit</a:t>
            </a:r>
            <a:endParaRPr lang="en-US" sz="1500" dirty="0"/>
          </a:p>
        </p:txBody>
      </p:sp>
      <p:sp>
        <p:nvSpPr>
          <p:cNvPr id="12" name="Text 10"/>
          <p:cNvSpPr txBox="1"/>
          <p:nvPr/>
        </p:nvSpPr>
        <p:spPr>
          <a:xfrm>
            <a:off x="4553712" y="2880360"/>
            <a:ext cx="3108960" cy="594360"/>
          </a:xfrm>
          <a:prstGeom prst="rect">
            <a:avLst/>
          </a:prstGeom>
          <a:noFill/>
          <a:ln/>
        </p:spPr>
        <p:txBody>
          <a:bodyPr wrap="square" rtlCol="0" anchor="ctr"/>
          <a:lstStyle/>
          <a:p>
            <a:pPr indent="0" marL="0">
              <a:buNone/>
            </a:pPr>
            <a:r>
              <a:rPr lang="en-US" sz="1150" dirty="0">
                <a:solidFill>
                  <a:srgbClr val="5B6B8C"/>
                </a:solidFill>
                <a:latin typeface="Calibri" pitchFamily="34" charset="0"/>
                <a:ea typeface="Calibri" pitchFamily="34" charset="-122"/>
                <a:cs typeface="Calibri" pitchFamily="34" charset="-120"/>
              </a:rPr>
              <a:t>Web application interface</a:t>
            </a:r>
            <a:endParaRPr lang="en-US" sz="1150" dirty="0"/>
          </a:p>
        </p:txBody>
      </p:sp>
      <p:sp>
        <p:nvSpPr>
          <p:cNvPr id="13" name="Shape 11"/>
          <p:cNvSpPr/>
          <p:nvPr/>
        </p:nvSpPr>
        <p:spPr>
          <a:xfrm>
            <a:off x="8101584" y="1554480"/>
            <a:ext cx="3520440" cy="2011680"/>
          </a:xfrm>
          <a:prstGeom prst="roundRect">
            <a:avLst>
              <a:gd name="adj" fmla="val 4545"/>
            </a:avLst>
          </a:prstGeom>
          <a:solidFill>
            <a:srgbClr val="F4F7FD"/>
          </a:solidFill>
          <a:ln/>
        </p:spPr>
      </p:sp>
      <p:sp>
        <p:nvSpPr>
          <p:cNvPr id="14" name="Shape 12"/>
          <p:cNvSpPr/>
          <p:nvPr/>
        </p:nvSpPr>
        <p:spPr>
          <a:xfrm>
            <a:off x="8330184" y="1783080"/>
            <a:ext cx="640080" cy="640080"/>
          </a:xfrm>
          <a:prstGeom prst="ellipse">
            <a:avLst/>
          </a:prstGeom>
          <a:solidFill>
            <a:srgbClr val="1E2761"/>
          </a:solidFill>
          <a:ln/>
        </p:spPr>
      </p:sp>
      <p:sp>
        <p:nvSpPr>
          <p:cNvPr id="15" name="Text 13"/>
          <p:cNvSpPr/>
          <p:nvPr/>
        </p:nvSpPr>
        <p:spPr>
          <a:xfrm>
            <a:off x="8330184" y="1783080"/>
            <a:ext cx="640080" cy="640080"/>
          </a:xfrm>
          <a:prstGeom prst="rect">
            <a:avLst/>
          </a:prstGeom>
          <a:noFill/>
          <a:ln/>
        </p:spPr>
        <p:txBody>
          <a:bodyPr wrap="square" rtlCol="0" anchor="ctr"/>
          <a:lstStyle/>
          <a:p>
            <a:pPr algn="ctr" indent="0" marL="0">
              <a:buNone/>
            </a:pPr>
            <a:r>
              <a:rPr lang="en-US" sz="1960" b="1" dirty="0">
                <a:solidFill>
                  <a:srgbClr val="FFFFFF"/>
                </a:solidFill>
                <a:latin typeface="Arial" pitchFamily="34" charset="0"/>
                <a:ea typeface="Arial" pitchFamily="34" charset="-122"/>
                <a:cs typeface="Arial" pitchFamily="34" charset="-120"/>
              </a:rPr>
              <a:t>💻</a:t>
            </a:r>
            <a:endParaRPr lang="en-US" sz="1960" dirty="0"/>
          </a:p>
        </p:txBody>
      </p:sp>
      <p:sp>
        <p:nvSpPr>
          <p:cNvPr id="16" name="Text 14"/>
          <p:cNvSpPr txBox="1"/>
          <p:nvPr/>
        </p:nvSpPr>
        <p:spPr>
          <a:xfrm>
            <a:off x="8330184" y="2514600"/>
            <a:ext cx="3108960" cy="365760"/>
          </a:xfrm>
          <a:prstGeom prst="rect">
            <a:avLst/>
          </a:prstGeom>
          <a:noFill/>
          <a:ln/>
        </p:spPr>
        <p:txBody>
          <a:bodyPr wrap="square" rtlCol="0" anchor="ctr"/>
          <a:lstStyle/>
          <a:p>
            <a:pPr indent="0" marL="0">
              <a:buNone/>
            </a:pPr>
            <a:r>
              <a:rPr lang="en-US" sz="1500" b="1" dirty="0">
                <a:solidFill>
                  <a:srgbClr val="1E2761"/>
                </a:solidFill>
                <a:latin typeface="Calibri" pitchFamily="34" charset="0"/>
                <a:ea typeface="Calibri" pitchFamily="34" charset="-122"/>
                <a:cs typeface="Calibri" pitchFamily="34" charset="-120"/>
              </a:rPr>
              <a:t>VS Code</a:t>
            </a:r>
            <a:endParaRPr lang="en-US" sz="1500" dirty="0"/>
          </a:p>
        </p:txBody>
      </p:sp>
      <p:sp>
        <p:nvSpPr>
          <p:cNvPr id="17" name="Text 15"/>
          <p:cNvSpPr txBox="1"/>
          <p:nvPr/>
        </p:nvSpPr>
        <p:spPr>
          <a:xfrm>
            <a:off x="8330184" y="2880360"/>
            <a:ext cx="3108960" cy="594360"/>
          </a:xfrm>
          <a:prstGeom prst="rect">
            <a:avLst/>
          </a:prstGeom>
          <a:noFill/>
          <a:ln/>
        </p:spPr>
        <p:txBody>
          <a:bodyPr wrap="square" rtlCol="0" anchor="ctr"/>
          <a:lstStyle/>
          <a:p>
            <a:pPr indent="0" marL="0">
              <a:buNone/>
            </a:pPr>
            <a:r>
              <a:rPr lang="en-US" sz="1150" dirty="0">
                <a:solidFill>
                  <a:srgbClr val="5B6B8C"/>
                </a:solidFill>
                <a:latin typeface="Calibri" pitchFamily="34" charset="0"/>
                <a:ea typeface="Calibri" pitchFamily="34" charset="-122"/>
                <a:cs typeface="Calibri" pitchFamily="34" charset="-120"/>
              </a:rPr>
              <a:t>Development environment</a:t>
            </a:r>
            <a:endParaRPr lang="en-US" sz="1150" dirty="0"/>
          </a:p>
        </p:txBody>
      </p:sp>
      <p:sp>
        <p:nvSpPr>
          <p:cNvPr id="18" name="Shape 16"/>
          <p:cNvSpPr/>
          <p:nvPr/>
        </p:nvSpPr>
        <p:spPr>
          <a:xfrm>
            <a:off x="548640" y="3840480"/>
            <a:ext cx="3520440" cy="2011680"/>
          </a:xfrm>
          <a:prstGeom prst="roundRect">
            <a:avLst>
              <a:gd name="adj" fmla="val 4545"/>
            </a:avLst>
          </a:prstGeom>
          <a:solidFill>
            <a:srgbClr val="F4F7FD"/>
          </a:solidFill>
          <a:ln/>
        </p:spPr>
      </p:sp>
      <p:sp>
        <p:nvSpPr>
          <p:cNvPr id="19" name="Shape 17"/>
          <p:cNvSpPr/>
          <p:nvPr/>
        </p:nvSpPr>
        <p:spPr>
          <a:xfrm>
            <a:off x="777240" y="4069080"/>
            <a:ext cx="640080" cy="640080"/>
          </a:xfrm>
          <a:prstGeom prst="ellipse">
            <a:avLst/>
          </a:prstGeom>
          <a:solidFill>
            <a:srgbClr val="1E2761"/>
          </a:solidFill>
          <a:ln/>
        </p:spPr>
      </p:sp>
      <p:sp>
        <p:nvSpPr>
          <p:cNvPr id="20" name="Text 18"/>
          <p:cNvSpPr/>
          <p:nvPr/>
        </p:nvSpPr>
        <p:spPr>
          <a:xfrm>
            <a:off x="777240" y="4069080"/>
            <a:ext cx="640080" cy="640080"/>
          </a:xfrm>
          <a:prstGeom prst="rect">
            <a:avLst/>
          </a:prstGeom>
          <a:noFill/>
          <a:ln/>
        </p:spPr>
        <p:txBody>
          <a:bodyPr wrap="square" rtlCol="0" anchor="ctr"/>
          <a:lstStyle/>
          <a:p>
            <a:pPr algn="ctr" indent="0" marL="0">
              <a:buNone/>
            </a:pPr>
            <a:r>
              <a:rPr lang="en-US" sz="1960" b="1" dirty="0">
                <a:solidFill>
                  <a:srgbClr val="FFFFFF"/>
                </a:solidFill>
                <a:latin typeface="Arial" pitchFamily="34" charset="0"/>
                <a:ea typeface="Arial" pitchFamily="34" charset="-122"/>
                <a:cs typeface="Arial" pitchFamily="34" charset="-120"/>
              </a:rPr>
              <a:t>📁</a:t>
            </a:r>
            <a:endParaRPr lang="en-US" sz="1960" dirty="0"/>
          </a:p>
        </p:txBody>
      </p:sp>
      <p:sp>
        <p:nvSpPr>
          <p:cNvPr id="21" name="Text 19"/>
          <p:cNvSpPr txBox="1"/>
          <p:nvPr/>
        </p:nvSpPr>
        <p:spPr>
          <a:xfrm>
            <a:off x="777240" y="4800600"/>
            <a:ext cx="3108960" cy="365760"/>
          </a:xfrm>
          <a:prstGeom prst="rect">
            <a:avLst/>
          </a:prstGeom>
          <a:noFill/>
          <a:ln/>
        </p:spPr>
        <p:txBody>
          <a:bodyPr wrap="square" rtlCol="0" anchor="ctr"/>
          <a:lstStyle/>
          <a:p>
            <a:pPr indent="0" marL="0">
              <a:buNone/>
            </a:pPr>
            <a:r>
              <a:rPr lang="en-US" sz="1500" b="1" dirty="0">
                <a:solidFill>
                  <a:srgbClr val="1E2761"/>
                </a:solidFill>
                <a:latin typeface="Calibri" pitchFamily="34" charset="0"/>
                <a:ea typeface="Calibri" pitchFamily="34" charset="-122"/>
                <a:cs typeface="Calibri" pitchFamily="34" charset="-120"/>
              </a:rPr>
              <a:t>Python Dictionary</a:t>
            </a:r>
            <a:endParaRPr lang="en-US" sz="1500" dirty="0"/>
          </a:p>
        </p:txBody>
      </p:sp>
      <p:sp>
        <p:nvSpPr>
          <p:cNvPr id="22" name="Text 20"/>
          <p:cNvSpPr txBox="1"/>
          <p:nvPr/>
        </p:nvSpPr>
        <p:spPr>
          <a:xfrm>
            <a:off x="777240" y="5166360"/>
            <a:ext cx="3108960" cy="594360"/>
          </a:xfrm>
          <a:prstGeom prst="rect">
            <a:avLst/>
          </a:prstGeom>
          <a:noFill/>
          <a:ln/>
        </p:spPr>
        <p:txBody>
          <a:bodyPr wrap="square" rtlCol="0" anchor="ctr"/>
          <a:lstStyle/>
          <a:p>
            <a:pPr indent="0" marL="0">
              <a:buNone/>
            </a:pPr>
            <a:r>
              <a:rPr lang="en-US" sz="1150" dirty="0">
                <a:solidFill>
                  <a:srgbClr val="5B6B8C"/>
                </a:solidFill>
                <a:latin typeface="Calibri" pitchFamily="34" charset="0"/>
                <a:ea typeface="Calibri" pitchFamily="34" charset="-122"/>
                <a:cs typeface="Calibri" pitchFamily="34" charset="-120"/>
              </a:rPr>
              <a:t>Stores AWS service information</a:t>
            </a:r>
            <a:endParaRPr lang="en-US" sz="1150" dirty="0"/>
          </a:p>
        </p:txBody>
      </p:sp>
      <p:sp>
        <p:nvSpPr>
          <p:cNvPr id="23" name="Shape 21"/>
          <p:cNvSpPr/>
          <p:nvPr/>
        </p:nvSpPr>
        <p:spPr>
          <a:xfrm>
            <a:off x="4325112" y="3840480"/>
            <a:ext cx="3520440" cy="2011680"/>
          </a:xfrm>
          <a:prstGeom prst="roundRect">
            <a:avLst>
              <a:gd name="adj" fmla="val 4545"/>
            </a:avLst>
          </a:prstGeom>
          <a:solidFill>
            <a:srgbClr val="F4F7FD"/>
          </a:solidFill>
          <a:ln/>
        </p:spPr>
      </p:sp>
      <p:sp>
        <p:nvSpPr>
          <p:cNvPr id="24" name="Shape 22"/>
          <p:cNvSpPr/>
          <p:nvPr/>
        </p:nvSpPr>
        <p:spPr>
          <a:xfrm>
            <a:off x="4553712" y="4069080"/>
            <a:ext cx="640080" cy="640080"/>
          </a:xfrm>
          <a:prstGeom prst="ellipse">
            <a:avLst/>
          </a:prstGeom>
          <a:solidFill>
            <a:srgbClr val="1E2761"/>
          </a:solidFill>
          <a:ln/>
        </p:spPr>
      </p:sp>
      <p:sp>
        <p:nvSpPr>
          <p:cNvPr id="25" name="Text 23"/>
          <p:cNvSpPr/>
          <p:nvPr/>
        </p:nvSpPr>
        <p:spPr>
          <a:xfrm>
            <a:off x="4553712" y="4069080"/>
            <a:ext cx="640080" cy="640080"/>
          </a:xfrm>
          <a:prstGeom prst="rect">
            <a:avLst/>
          </a:prstGeom>
          <a:noFill/>
          <a:ln/>
        </p:spPr>
        <p:txBody>
          <a:bodyPr wrap="square" rtlCol="0" anchor="ctr"/>
          <a:lstStyle/>
          <a:p>
            <a:pPr algn="ctr" indent="0" marL="0">
              <a:buNone/>
            </a:pPr>
            <a:r>
              <a:rPr lang="en-US" sz="1960" b="1" dirty="0">
                <a:solidFill>
                  <a:srgbClr val="FFFFFF"/>
                </a:solidFill>
                <a:latin typeface="Arial" pitchFamily="34" charset="0"/>
                <a:ea typeface="Arial" pitchFamily="34" charset="-122"/>
                <a:cs typeface="Arial" pitchFamily="34" charset="-120"/>
              </a:rPr>
              <a:t>🔗</a:t>
            </a:r>
            <a:endParaRPr lang="en-US" sz="1960" dirty="0"/>
          </a:p>
        </p:txBody>
      </p:sp>
      <p:sp>
        <p:nvSpPr>
          <p:cNvPr id="26" name="Text 24"/>
          <p:cNvSpPr txBox="1"/>
          <p:nvPr/>
        </p:nvSpPr>
        <p:spPr>
          <a:xfrm>
            <a:off x="4553712" y="4800600"/>
            <a:ext cx="3108960" cy="365760"/>
          </a:xfrm>
          <a:prstGeom prst="rect">
            <a:avLst/>
          </a:prstGeom>
          <a:noFill/>
          <a:ln/>
        </p:spPr>
        <p:txBody>
          <a:bodyPr wrap="square" rtlCol="0" anchor="ctr"/>
          <a:lstStyle/>
          <a:p>
            <a:pPr indent="0" marL="0">
              <a:buNone/>
            </a:pPr>
            <a:r>
              <a:rPr lang="en-US" sz="1500" b="1" dirty="0">
                <a:solidFill>
                  <a:srgbClr val="1E2761"/>
                </a:solidFill>
                <a:latin typeface="Calibri" pitchFamily="34" charset="0"/>
                <a:ea typeface="Calibri" pitchFamily="34" charset="-122"/>
                <a:cs typeface="Calibri" pitchFamily="34" charset="-120"/>
              </a:rPr>
              <a:t>GitHub</a:t>
            </a:r>
            <a:endParaRPr lang="en-US" sz="1500" dirty="0"/>
          </a:p>
        </p:txBody>
      </p:sp>
      <p:sp>
        <p:nvSpPr>
          <p:cNvPr id="27" name="Text 25"/>
          <p:cNvSpPr txBox="1"/>
          <p:nvPr/>
        </p:nvSpPr>
        <p:spPr>
          <a:xfrm>
            <a:off x="4553712" y="5166360"/>
            <a:ext cx="3108960" cy="594360"/>
          </a:xfrm>
          <a:prstGeom prst="rect">
            <a:avLst/>
          </a:prstGeom>
          <a:noFill/>
          <a:ln/>
        </p:spPr>
        <p:txBody>
          <a:bodyPr wrap="square" rtlCol="0" anchor="ctr"/>
          <a:lstStyle/>
          <a:p>
            <a:pPr indent="0" marL="0">
              <a:buNone/>
            </a:pPr>
            <a:r>
              <a:rPr lang="en-US" sz="1150" dirty="0">
                <a:solidFill>
                  <a:srgbClr val="5B6B8C"/>
                </a:solidFill>
                <a:latin typeface="Calibri" pitchFamily="34" charset="0"/>
                <a:ea typeface="Calibri" pitchFamily="34" charset="-122"/>
                <a:cs typeface="Calibri" pitchFamily="34" charset="-120"/>
              </a:rPr>
              <a:t>Version control &amp; hosting</a:t>
            </a:r>
            <a:endParaRPr lang="en-US" sz="1150" dirty="0"/>
          </a:p>
        </p:txBody>
      </p:sp>
      <p:sp>
        <p:nvSpPr>
          <p:cNvPr id="28" name="Text 26"/>
          <p:cNvSpPr txBox="1"/>
          <p:nvPr/>
        </p:nvSpPr>
        <p:spPr>
          <a:xfrm>
            <a:off x="548640" y="5989320"/>
            <a:ext cx="10972800" cy="365760"/>
          </a:xfrm>
          <a:prstGeom prst="rect">
            <a:avLst/>
          </a:prstGeom>
          <a:noFill/>
          <a:ln/>
        </p:spPr>
        <p:txBody>
          <a:bodyPr wrap="square" rtlCol="0" anchor="ctr"/>
          <a:lstStyle/>
          <a:p>
            <a:pPr indent="0" marL="0">
              <a:buNone/>
            </a:pPr>
            <a:r>
              <a:rPr lang="en-US" sz="1250" i="1" dirty="0">
                <a:solidFill>
                  <a:srgbClr val="F2994A"/>
                </a:solidFill>
                <a:latin typeface="Calibri" pitchFamily="34" charset="0"/>
                <a:ea typeface="Calibri" pitchFamily="34" charset="-122"/>
                <a:cs typeface="Calibri" pitchFamily="34" charset="-120"/>
              </a:rPr>
              <a:t>No paid AWS services required for the current version.</a:t>
            </a:r>
            <a:endParaRPr lang="en-US" sz="1250" dirty="0"/>
          </a:p>
        </p:txBody>
      </p:sp>
      <p:sp>
        <p:nvSpPr>
          <p:cNvPr id="29" name="Text 27"/>
          <p:cNvSpPr/>
          <p:nvPr/>
        </p:nvSpPr>
        <p:spPr>
          <a:xfrm>
            <a:off x="457200" y="6510528"/>
            <a:ext cx="5486400" cy="274320"/>
          </a:xfrm>
          <a:prstGeom prst="rect">
            <a:avLst/>
          </a:prstGeom>
          <a:noFill/>
          <a:ln/>
        </p:spPr>
        <p:txBody>
          <a:bodyPr wrap="square" rtlCol="0" anchor="ctr"/>
          <a:lstStyle/>
          <a:p>
            <a:pPr algn="l" indent="0" marL="0">
              <a:buNone/>
            </a:pPr>
            <a:r>
              <a:rPr lang="en-US" sz="900" dirty="0">
                <a:solidFill>
                  <a:srgbClr val="5B6B8C"/>
                </a:solidFill>
                <a:latin typeface="Calibri" pitchFamily="34" charset="0"/>
                <a:ea typeface="Calibri" pitchFamily="34" charset="-122"/>
                <a:cs typeface="Calibri" pitchFamily="34" charset="-120"/>
              </a:rPr>
              <a:t>AWS Service Explorer</a:t>
            </a:r>
            <a:endParaRPr lang="en-US" sz="900" dirty="0"/>
          </a:p>
        </p:txBody>
      </p:sp>
      <p:sp>
        <p:nvSpPr>
          <p:cNvPr id="30" name="Text 28"/>
          <p:cNvSpPr/>
          <p:nvPr/>
        </p:nvSpPr>
        <p:spPr>
          <a:xfrm>
            <a:off x="11430000" y="6510528"/>
            <a:ext cx="365760" cy="274320"/>
          </a:xfrm>
          <a:prstGeom prst="rect">
            <a:avLst/>
          </a:prstGeom>
          <a:noFill/>
          <a:ln/>
        </p:spPr>
        <p:txBody>
          <a:bodyPr wrap="square" rtlCol="0" anchor="ctr"/>
          <a:lstStyle/>
          <a:p>
            <a:pPr algn="r" indent="0" marL="0">
              <a:buNone/>
            </a:pPr>
            <a:r>
              <a:rPr lang="en-US" sz="900" dirty="0">
                <a:solidFill>
                  <a:srgbClr val="5B6B8C"/>
                </a:solidFill>
                <a:latin typeface="Calibri" pitchFamily="34" charset="0"/>
                <a:ea typeface="Calibri" pitchFamily="34" charset="-122"/>
                <a:cs typeface="Calibri" pitchFamily="34" charset="-120"/>
              </a:rPr>
              <a:t>5</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1E2761"/>
        </a:solidFill>
      </p:bgPr>
    </p:bg>
    <p:spTree>
      <p:nvGrpSpPr>
        <p:cNvPr id="1" name=""/>
        <p:cNvGrpSpPr/>
        <p:nvPr/>
      </p:nvGrpSpPr>
      <p:grpSpPr>
        <a:xfrm>
          <a:off x="0" y="0"/>
          <a:ext cx="0" cy="0"/>
          <a:chOff x="0" y="0"/>
          <a:chExt cx="0" cy="0"/>
        </a:xfrm>
      </p:grpSpPr>
      <p:sp>
        <p:nvSpPr>
          <p:cNvPr id="2" name="Text 0"/>
          <p:cNvSpPr txBox="1"/>
          <p:nvPr/>
        </p:nvSpPr>
        <p:spPr>
          <a:xfrm>
            <a:off x="548640" y="411480"/>
            <a:ext cx="8229600" cy="640080"/>
          </a:xfrm>
          <a:prstGeom prst="rect">
            <a:avLst/>
          </a:prstGeom>
          <a:noFill/>
          <a:ln/>
        </p:spPr>
        <p:txBody>
          <a:bodyPr wrap="square" rtlCol="0" anchor="ctr"/>
          <a:lstStyle/>
          <a:p>
            <a:pPr indent="0" marL="0">
              <a:buNone/>
            </a:pPr>
            <a:r>
              <a:rPr lang="en-US" sz="3200" b="1" dirty="0">
                <a:solidFill>
                  <a:srgbClr val="FFFFFF"/>
                </a:solidFill>
                <a:latin typeface="Cambria" pitchFamily="34" charset="0"/>
                <a:ea typeface="Cambria" pitchFamily="34" charset="-122"/>
                <a:cs typeface="Cambria" pitchFamily="34" charset="-120"/>
              </a:rPr>
              <a:t>System Architecture</a:t>
            </a:r>
            <a:endParaRPr lang="en-US" sz="3200" dirty="0"/>
          </a:p>
        </p:txBody>
      </p:sp>
      <p:sp>
        <p:nvSpPr>
          <p:cNvPr id="3" name="Shape 1"/>
          <p:cNvSpPr/>
          <p:nvPr/>
        </p:nvSpPr>
        <p:spPr>
          <a:xfrm>
            <a:off x="548640" y="2377440"/>
            <a:ext cx="1691640" cy="1554480"/>
          </a:xfrm>
          <a:prstGeom prst="roundRect">
            <a:avLst>
              <a:gd name="adj" fmla="val 5882"/>
            </a:avLst>
          </a:prstGeom>
          <a:solidFill>
            <a:srgbClr val="F2994A"/>
          </a:solidFill>
          <a:ln/>
        </p:spPr>
      </p:sp>
      <p:sp>
        <p:nvSpPr>
          <p:cNvPr id="4" name="Text 2"/>
          <p:cNvSpPr txBox="1"/>
          <p:nvPr/>
        </p:nvSpPr>
        <p:spPr>
          <a:xfrm>
            <a:off x="548640" y="2514600"/>
            <a:ext cx="1691640" cy="548640"/>
          </a:xfrm>
          <a:prstGeom prst="rect">
            <a:avLst/>
          </a:prstGeom>
          <a:noFill/>
          <a:ln/>
        </p:spPr>
        <p:txBody>
          <a:bodyPr wrap="square" rtlCol="0" anchor="ctr"/>
          <a:lstStyle/>
          <a:p>
            <a:pPr algn="ctr" indent="0" marL="0">
              <a:buNone/>
            </a:pPr>
            <a:r>
              <a:rPr lang="en-US" sz="2400" dirty="0">
                <a:solidFill>
                  <a:srgbClr val="000000"/>
                </a:solidFill>
              </a:rPr>
              <a:t>👤</a:t>
            </a:r>
            <a:endParaRPr lang="en-US" sz="2400" dirty="0"/>
          </a:p>
        </p:txBody>
      </p:sp>
      <p:sp>
        <p:nvSpPr>
          <p:cNvPr id="5" name="Text 3"/>
          <p:cNvSpPr txBox="1"/>
          <p:nvPr/>
        </p:nvSpPr>
        <p:spPr>
          <a:xfrm>
            <a:off x="621792" y="3154680"/>
            <a:ext cx="1545336" cy="685800"/>
          </a:xfrm>
          <a:prstGeom prst="rect">
            <a:avLst/>
          </a:prstGeom>
          <a:noFill/>
          <a:ln/>
        </p:spPr>
        <p:txBody>
          <a:bodyPr wrap="square" rtlCol="0" anchor="t"/>
          <a:lstStyle/>
          <a:p>
            <a:pPr algn="ctr" indent="0" marL="0">
              <a:buNone/>
            </a:pPr>
            <a:r>
              <a:rPr lang="en-US" sz="1050" b="1" dirty="0">
                <a:solidFill>
                  <a:srgbClr val="FFFFFF"/>
                </a:solidFill>
                <a:latin typeface="Calibri" pitchFamily="34" charset="0"/>
                <a:ea typeface="Calibri" pitchFamily="34" charset="-122"/>
                <a:cs typeface="Calibri" pitchFamily="34" charset="-120"/>
              </a:rPr>
              <a:t>User</a:t>
            </a:r>
            <a:endParaRPr lang="en-US" sz="1050" dirty="0"/>
          </a:p>
        </p:txBody>
      </p:sp>
      <p:sp>
        <p:nvSpPr>
          <p:cNvPr id="6" name="Shape 4"/>
          <p:cNvSpPr/>
          <p:nvPr/>
        </p:nvSpPr>
        <p:spPr>
          <a:xfrm>
            <a:off x="2258568" y="3035808"/>
            <a:ext cx="192024" cy="228600"/>
          </a:xfrm>
          <a:prstGeom prst="rightArrow">
            <a:avLst/>
          </a:prstGeom>
          <a:solidFill>
            <a:srgbClr val="CADCFC"/>
          </a:solidFill>
          <a:ln/>
        </p:spPr>
      </p:sp>
      <p:sp>
        <p:nvSpPr>
          <p:cNvPr id="7" name="Shape 5"/>
          <p:cNvSpPr/>
          <p:nvPr/>
        </p:nvSpPr>
        <p:spPr>
          <a:xfrm>
            <a:off x="2468880" y="2377440"/>
            <a:ext cx="1691640" cy="1554480"/>
          </a:xfrm>
          <a:prstGeom prst="roundRect">
            <a:avLst>
              <a:gd name="adj" fmla="val 5882"/>
            </a:avLst>
          </a:prstGeom>
          <a:solidFill>
            <a:srgbClr val="273476"/>
          </a:solidFill>
          <a:ln/>
        </p:spPr>
      </p:sp>
      <p:sp>
        <p:nvSpPr>
          <p:cNvPr id="8" name="Text 6"/>
          <p:cNvSpPr txBox="1"/>
          <p:nvPr/>
        </p:nvSpPr>
        <p:spPr>
          <a:xfrm>
            <a:off x="2468880" y="2514600"/>
            <a:ext cx="1691640" cy="548640"/>
          </a:xfrm>
          <a:prstGeom prst="rect">
            <a:avLst/>
          </a:prstGeom>
          <a:noFill/>
          <a:ln/>
        </p:spPr>
        <p:txBody>
          <a:bodyPr wrap="square" rtlCol="0" anchor="ctr"/>
          <a:lstStyle/>
          <a:p>
            <a:pPr algn="ctr" indent="0" marL="0">
              <a:buNone/>
            </a:pPr>
            <a:r>
              <a:rPr lang="en-US" sz="2400" dirty="0">
                <a:solidFill>
                  <a:srgbClr val="000000"/>
                </a:solidFill>
              </a:rPr>
              <a:t>🖥</a:t>
            </a:r>
            <a:endParaRPr lang="en-US" sz="2400" dirty="0"/>
          </a:p>
        </p:txBody>
      </p:sp>
      <p:sp>
        <p:nvSpPr>
          <p:cNvPr id="9" name="Text 7"/>
          <p:cNvSpPr txBox="1"/>
          <p:nvPr/>
        </p:nvSpPr>
        <p:spPr>
          <a:xfrm>
            <a:off x="2542032" y="3154680"/>
            <a:ext cx="1545336" cy="685800"/>
          </a:xfrm>
          <a:prstGeom prst="rect">
            <a:avLst/>
          </a:prstGeom>
          <a:noFill/>
          <a:ln/>
        </p:spPr>
        <p:txBody>
          <a:bodyPr wrap="square" rtlCol="0" anchor="t"/>
          <a:lstStyle/>
          <a:p>
            <a:pPr algn="ctr" indent="0" marL="0">
              <a:buNone/>
            </a:pPr>
            <a:r>
              <a:rPr lang="en-US" sz="1050" b="1" dirty="0">
                <a:solidFill>
                  <a:srgbClr val="FFFFFF"/>
                </a:solidFill>
                <a:latin typeface="Calibri" pitchFamily="34" charset="0"/>
                <a:ea typeface="Calibri" pitchFamily="34" charset="-122"/>
                <a:cs typeface="Calibri" pitchFamily="34" charset="-120"/>
              </a:rPr>
              <a:t>Streamlit Web Interface</a:t>
            </a:r>
            <a:endParaRPr lang="en-US" sz="1050" dirty="0"/>
          </a:p>
        </p:txBody>
      </p:sp>
      <p:sp>
        <p:nvSpPr>
          <p:cNvPr id="10" name="Shape 8"/>
          <p:cNvSpPr/>
          <p:nvPr/>
        </p:nvSpPr>
        <p:spPr>
          <a:xfrm>
            <a:off x="4178808" y="3035808"/>
            <a:ext cx="192024" cy="228600"/>
          </a:xfrm>
          <a:prstGeom prst="rightArrow">
            <a:avLst/>
          </a:prstGeom>
          <a:solidFill>
            <a:srgbClr val="CADCFC"/>
          </a:solidFill>
          <a:ln/>
        </p:spPr>
      </p:sp>
      <p:sp>
        <p:nvSpPr>
          <p:cNvPr id="11" name="Shape 9"/>
          <p:cNvSpPr/>
          <p:nvPr/>
        </p:nvSpPr>
        <p:spPr>
          <a:xfrm>
            <a:off x="4389120" y="2377440"/>
            <a:ext cx="1691640" cy="1554480"/>
          </a:xfrm>
          <a:prstGeom prst="roundRect">
            <a:avLst>
              <a:gd name="adj" fmla="val 5882"/>
            </a:avLst>
          </a:prstGeom>
          <a:solidFill>
            <a:srgbClr val="273476"/>
          </a:solidFill>
          <a:ln/>
        </p:spPr>
      </p:sp>
      <p:sp>
        <p:nvSpPr>
          <p:cNvPr id="12" name="Text 10"/>
          <p:cNvSpPr txBox="1"/>
          <p:nvPr/>
        </p:nvSpPr>
        <p:spPr>
          <a:xfrm>
            <a:off x="4389120" y="2514600"/>
            <a:ext cx="1691640" cy="548640"/>
          </a:xfrm>
          <a:prstGeom prst="rect">
            <a:avLst/>
          </a:prstGeom>
          <a:noFill/>
          <a:ln/>
        </p:spPr>
        <p:txBody>
          <a:bodyPr wrap="square" rtlCol="0" anchor="ctr"/>
          <a:lstStyle/>
          <a:p>
            <a:pPr algn="ctr" indent="0" marL="0">
              <a:buNone/>
            </a:pPr>
            <a:r>
              <a:rPr lang="en-US" sz="2400" dirty="0">
                <a:solidFill>
                  <a:srgbClr val="000000"/>
                </a:solidFill>
              </a:rPr>
              <a:t>🔍</a:t>
            </a:r>
            <a:endParaRPr lang="en-US" sz="2400" dirty="0"/>
          </a:p>
        </p:txBody>
      </p:sp>
      <p:sp>
        <p:nvSpPr>
          <p:cNvPr id="13" name="Text 11"/>
          <p:cNvSpPr txBox="1"/>
          <p:nvPr/>
        </p:nvSpPr>
        <p:spPr>
          <a:xfrm>
            <a:off x="4462272" y="3154680"/>
            <a:ext cx="1545336" cy="685800"/>
          </a:xfrm>
          <a:prstGeom prst="rect">
            <a:avLst/>
          </a:prstGeom>
          <a:noFill/>
          <a:ln/>
        </p:spPr>
        <p:txBody>
          <a:bodyPr wrap="square" rtlCol="0" anchor="t"/>
          <a:lstStyle/>
          <a:p>
            <a:pPr algn="ctr" indent="0" marL="0">
              <a:buNone/>
            </a:pPr>
            <a:r>
              <a:rPr lang="en-US" sz="1050" b="1" dirty="0">
                <a:solidFill>
                  <a:srgbClr val="FFFFFF"/>
                </a:solidFill>
                <a:latin typeface="Calibri" pitchFamily="34" charset="0"/>
                <a:ea typeface="Calibri" pitchFamily="34" charset="-122"/>
                <a:cs typeface="Calibri" pitchFamily="34" charset="-120"/>
              </a:rPr>
              <a:t>Search / Selection</a:t>
            </a:r>
            <a:endParaRPr lang="en-US" sz="1050" dirty="0"/>
          </a:p>
        </p:txBody>
      </p:sp>
      <p:sp>
        <p:nvSpPr>
          <p:cNvPr id="14" name="Shape 12"/>
          <p:cNvSpPr/>
          <p:nvPr/>
        </p:nvSpPr>
        <p:spPr>
          <a:xfrm>
            <a:off x="6099048" y="3035808"/>
            <a:ext cx="192024" cy="228600"/>
          </a:xfrm>
          <a:prstGeom prst="rightArrow">
            <a:avLst/>
          </a:prstGeom>
          <a:solidFill>
            <a:srgbClr val="CADCFC"/>
          </a:solidFill>
          <a:ln/>
        </p:spPr>
      </p:sp>
      <p:sp>
        <p:nvSpPr>
          <p:cNvPr id="15" name="Shape 13"/>
          <p:cNvSpPr/>
          <p:nvPr/>
        </p:nvSpPr>
        <p:spPr>
          <a:xfrm>
            <a:off x="6309360" y="2377440"/>
            <a:ext cx="1691640" cy="1554480"/>
          </a:xfrm>
          <a:prstGeom prst="roundRect">
            <a:avLst>
              <a:gd name="adj" fmla="val 5882"/>
            </a:avLst>
          </a:prstGeom>
          <a:solidFill>
            <a:srgbClr val="273476"/>
          </a:solidFill>
          <a:ln/>
        </p:spPr>
      </p:sp>
      <p:sp>
        <p:nvSpPr>
          <p:cNvPr id="16" name="Text 14"/>
          <p:cNvSpPr txBox="1"/>
          <p:nvPr/>
        </p:nvSpPr>
        <p:spPr>
          <a:xfrm>
            <a:off x="6309360" y="2514600"/>
            <a:ext cx="1691640" cy="548640"/>
          </a:xfrm>
          <a:prstGeom prst="rect">
            <a:avLst/>
          </a:prstGeom>
          <a:noFill/>
          <a:ln/>
        </p:spPr>
        <p:txBody>
          <a:bodyPr wrap="square" rtlCol="0" anchor="ctr"/>
          <a:lstStyle/>
          <a:p>
            <a:pPr algn="ctr" indent="0" marL="0">
              <a:buNone/>
            </a:pPr>
            <a:r>
              <a:rPr lang="en-US" sz="2400" dirty="0">
                <a:solidFill>
                  <a:srgbClr val="000000"/>
                </a:solidFill>
              </a:rPr>
              <a:t>☁</a:t>
            </a:r>
            <a:endParaRPr lang="en-US" sz="2400" dirty="0"/>
          </a:p>
        </p:txBody>
      </p:sp>
      <p:sp>
        <p:nvSpPr>
          <p:cNvPr id="17" name="Text 15"/>
          <p:cNvSpPr txBox="1"/>
          <p:nvPr/>
        </p:nvSpPr>
        <p:spPr>
          <a:xfrm>
            <a:off x="6382512" y="3154680"/>
            <a:ext cx="1545336" cy="685800"/>
          </a:xfrm>
          <a:prstGeom prst="rect">
            <a:avLst/>
          </a:prstGeom>
          <a:noFill/>
          <a:ln/>
        </p:spPr>
        <p:txBody>
          <a:bodyPr wrap="square" rtlCol="0" anchor="t"/>
          <a:lstStyle/>
          <a:p>
            <a:pPr algn="ctr" indent="0" marL="0">
              <a:buNone/>
            </a:pPr>
            <a:r>
              <a:rPr lang="en-US" sz="1050" b="1" dirty="0">
                <a:solidFill>
                  <a:srgbClr val="FFFFFF"/>
                </a:solidFill>
                <a:latin typeface="Calibri" pitchFamily="34" charset="0"/>
                <a:ea typeface="Calibri" pitchFamily="34" charset="-122"/>
                <a:cs typeface="Calibri" pitchFamily="34" charset="-120"/>
              </a:rPr>
              <a:t>AWS Service Information</a:t>
            </a:r>
            <a:endParaRPr lang="en-US" sz="1050" dirty="0"/>
          </a:p>
        </p:txBody>
      </p:sp>
      <p:sp>
        <p:nvSpPr>
          <p:cNvPr id="18" name="Shape 16"/>
          <p:cNvSpPr/>
          <p:nvPr/>
        </p:nvSpPr>
        <p:spPr>
          <a:xfrm>
            <a:off x="8019288" y="3035808"/>
            <a:ext cx="192024" cy="228600"/>
          </a:xfrm>
          <a:prstGeom prst="rightArrow">
            <a:avLst/>
          </a:prstGeom>
          <a:solidFill>
            <a:srgbClr val="CADCFC"/>
          </a:solidFill>
          <a:ln/>
        </p:spPr>
      </p:sp>
      <p:sp>
        <p:nvSpPr>
          <p:cNvPr id="19" name="Shape 17"/>
          <p:cNvSpPr/>
          <p:nvPr/>
        </p:nvSpPr>
        <p:spPr>
          <a:xfrm>
            <a:off x="8229600" y="2377440"/>
            <a:ext cx="1691640" cy="1554480"/>
          </a:xfrm>
          <a:prstGeom prst="roundRect">
            <a:avLst>
              <a:gd name="adj" fmla="val 5882"/>
            </a:avLst>
          </a:prstGeom>
          <a:solidFill>
            <a:srgbClr val="273476"/>
          </a:solidFill>
          <a:ln/>
        </p:spPr>
      </p:sp>
      <p:sp>
        <p:nvSpPr>
          <p:cNvPr id="20" name="Text 18"/>
          <p:cNvSpPr txBox="1"/>
          <p:nvPr/>
        </p:nvSpPr>
        <p:spPr>
          <a:xfrm>
            <a:off x="8229600" y="2514600"/>
            <a:ext cx="1691640" cy="548640"/>
          </a:xfrm>
          <a:prstGeom prst="rect">
            <a:avLst/>
          </a:prstGeom>
          <a:noFill/>
          <a:ln/>
        </p:spPr>
        <p:txBody>
          <a:bodyPr wrap="square" rtlCol="0" anchor="ctr"/>
          <a:lstStyle/>
          <a:p>
            <a:pPr algn="ctr" indent="0" marL="0">
              <a:buNone/>
            </a:pPr>
            <a:r>
              <a:rPr lang="en-US" sz="2400" dirty="0">
                <a:solidFill>
                  <a:srgbClr val="000000"/>
                </a:solidFill>
              </a:rPr>
              <a:t>⚙</a:t>
            </a:r>
            <a:endParaRPr lang="en-US" sz="2400" dirty="0"/>
          </a:p>
        </p:txBody>
      </p:sp>
      <p:sp>
        <p:nvSpPr>
          <p:cNvPr id="21" name="Text 19"/>
          <p:cNvSpPr txBox="1"/>
          <p:nvPr/>
        </p:nvSpPr>
        <p:spPr>
          <a:xfrm>
            <a:off x="8302752" y="3154680"/>
            <a:ext cx="1545336" cy="685800"/>
          </a:xfrm>
          <a:prstGeom prst="rect">
            <a:avLst/>
          </a:prstGeom>
          <a:noFill/>
          <a:ln/>
        </p:spPr>
        <p:txBody>
          <a:bodyPr wrap="square" rtlCol="0" anchor="t"/>
          <a:lstStyle/>
          <a:p>
            <a:pPr algn="ctr" indent="0" marL="0">
              <a:buNone/>
            </a:pPr>
            <a:r>
              <a:rPr lang="en-US" sz="1050" b="1" dirty="0">
                <a:solidFill>
                  <a:srgbClr val="FFFFFF"/>
                </a:solidFill>
                <a:latin typeface="Calibri" pitchFamily="34" charset="0"/>
                <a:ea typeface="Calibri" pitchFamily="34" charset="-122"/>
                <a:cs typeface="Calibri" pitchFamily="34" charset="-120"/>
              </a:rPr>
              <a:t>Processing &amp; Filtering</a:t>
            </a:r>
            <a:endParaRPr lang="en-US" sz="1050" dirty="0"/>
          </a:p>
        </p:txBody>
      </p:sp>
      <p:sp>
        <p:nvSpPr>
          <p:cNvPr id="22" name="Shape 20"/>
          <p:cNvSpPr/>
          <p:nvPr/>
        </p:nvSpPr>
        <p:spPr>
          <a:xfrm>
            <a:off x="9939528" y="3035808"/>
            <a:ext cx="192024" cy="228600"/>
          </a:xfrm>
          <a:prstGeom prst="rightArrow">
            <a:avLst/>
          </a:prstGeom>
          <a:solidFill>
            <a:srgbClr val="CADCFC"/>
          </a:solidFill>
          <a:ln/>
        </p:spPr>
      </p:sp>
      <p:sp>
        <p:nvSpPr>
          <p:cNvPr id="23" name="Shape 21"/>
          <p:cNvSpPr/>
          <p:nvPr/>
        </p:nvSpPr>
        <p:spPr>
          <a:xfrm>
            <a:off x="10149840" y="2377440"/>
            <a:ext cx="1691640" cy="1554480"/>
          </a:xfrm>
          <a:prstGeom prst="roundRect">
            <a:avLst>
              <a:gd name="adj" fmla="val 5882"/>
            </a:avLst>
          </a:prstGeom>
          <a:solidFill>
            <a:srgbClr val="F2994A"/>
          </a:solidFill>
          <a:ln/>
        </p:spPr>
      </p:sp>
      <p:sp>
        <p:nvSpPr>
          <p:cNvPr id="24" name="Text 22"/>
          <p:cNvSpPr txBox="1"/>
          <p:nvPr/>
        </p:nvSpPr>
        <p:spPr>
          <a:xfrm>
            <a:off x="10149840" y="2514600"/>
            <a:ext cx="1691640" cy="548640"/>
          </a:xfrm>
          <a:prstGeom prst="rect">
            <a:avLst/>
          </a:prstGeom>
          <a:noFill/>
          <a:ln/>
        </p:spPr>
        <p:txBody>
          <a:bodyPr wrap="square" rtlCol="0" anchor="ctr"/>
          <a:lstStyle/>
          <a:p>
            <a:pPr algn="ctr" indent="0" marL="0">
              <a:buNone/>
            </a:pPr>
            <a:r>
              <a:rPr lang="en-US" sz="2400" dirty="0">
                <a:solidFill>
                  <a:srgbClr val="000000"/>
                </a:solidFill>
              </a:rPr>
              <a:t>📊</a:t>
            </a:r>
            <a:endParaRPr lang="en-US" sz="2400" dirty="0"/>
          </a:p>
        </p:txBody>
      </p:sp>
      <p:sp>
        <p:nvSpPr>
          <p:cNvPr id="25" name="Text 23"/>
          <p:cNvSpPr txBox="1"/>
          <p:nvPr/>
        </p:nvSpPr>
        <p:spPr>
          <a:xfrm>
            <a:off x="10222992" y="3154680"/>
            <a:ext cx="1545336" cy="685800"/>
          </a:xfrm>
          <a:prstGeom prst="rect">
            <a:avLst/>
          </a:prstGeom>
          <a:noFill/>
          <a:ln/>
        </p:spPr>
        <p:txBody>
          <a:bodyPr wrap="square" rtlCol="0" anchor="t"/>
          <a:lstStyle/>
          <a:p>
            <a:pPr algn="ctr" indent="0" marL="0">
              <a:buNone/>
            </a:pPr>
            <a:r>
              <a:rPr lang="en-US" sz="1050" b="1" dirty="0">
                <a:solidFill>
                  <a:srgbClr val="FFFFFF"/>
                </a:solidFill>
                <a:latin typeface="Calibri" pitchFamily="34" charset="0"/>
                <a:ea typeface="Calibri" pitchFamily="34" charset="-122"/>
                <a:cs typeface="Calibri" pitchFamily="34" charset="-120"/>
              </a:rPr>
              <a:t>Service Details / Comparison</a:t>
            </a:r>
            <a:endParaRPr lang="en-US" sz="1050" dirty="0"/>
          </a:p>
        </p:txBody>
      </p:sp>
      <p:sp>
        <p:nvSpPr>
          <p:cNvPr id="26" name="Text 24"/>
          <p:cNvSpPr txBox="1"/>
          <p:nvPr/>
        </p:nvSpPr>
        <p:spPr>
          <a:xfrm>
            <a:off x="548640" y="4572000"/>
            <a:ext cx="11064240" cy="731520"/>
          </a:xfrm>
          <a:prstGeom prst="rect">
            <a:avLst/>
          </a:prstGeom>
          <a:noFill/>
          <a:ln/>
        </p:spPr>
        <p:txBody>
          <a:bodyPr wrap="square" rtlCol="0" anchor="ctr"/>
          <a:lstStyle/>
          <a:p>
            <a:pPr algn="ctr" indent="0" marL="0">
              <a:buNone/>
            </a:pPr>
            <a:r>
              <a:rPr lang="en-US" sz="1400" dirty="0">
                <a:solidFill>
                  <a:srgbClr val="CADCFC"/>
                </a:solidFill>
                <a:latin typeface="Calibri" pitchFamily="34" charset="0"/>
                <a:ea typeface="Calibri" pitchFamily="34" charset="-122"/>
                <a:cs typeface="Calibri" pitchFamily="34" charset="-120"/>
              </a:rPr>
              <a:t>Data flows from the user through the Streamlit interface, is filtered against the stored AWS service data, and results are returned to the user.</a:t>
            </a:r>
            <a:endParaRPr lang="en-US" sz="1400" dirty="0"/>
          </a:p>
        </p:txBody>
      </p:sp>
      <p:sp>
        <p:nvSpPr>
          <p:cNvPr id="27" name="Text 25"/>
          <p:cNvSpPr/>
          <p:nvPr/>
        </p:nvSpPr>
        <p:spPr>
          <a:xfrm>
            <a:off x="457200" y="6510528"/>
            <a:ext cx="5486400" cy="274320"/>
          </a:xfrm>
          <a:prstGeom prst="rect">
            <a:avLst/>
          </a:prstGeom>
          <a:noFill/>
          <a:ln/>
        </p:spPr>
        <p:txBody>
          <a:bodyPr wrap="square" rtlCol="0" anchor="ctr"/>
          <a:lstStyle/>
          <a:p>
            <a:pPr algn="l" indent="0" marL="0">
              <a:buNone/>
            </a:pPr>
            <a:r>
              <a:rPr lang="en-US" sz="900" dirty="0">
                <a:solidFill>
                  <a:srgbClr val="CADCFC"/>
                </a:solidFill>
                <a:latin typeface="Calibri" pitchFamily="34" charset="0"/>
                <a:ea typeface="Calibri" pitchFamily="34" charset="-122"/>
                <a:cs typeface="Calibri" pitchFamily="34" charset="-120"/>
              </a:rPr>
              <a:t>AWS Service Explorer</a:t>
            </a:r>
            <a:endParaRPr lang="en-US" sz="900" dirty="0"/>
          </a:p>
        </p:txBody>
      </p:sp>
      <p:sp>
        <p:nvSpPr>
          <p:cNvPr id="28" name="Text 26"/>
          <p:cNvSpPr/>
          <p:nvPr/>
        </p:nvSpPr>
        <p:spPr>
          <a:xfrm>
            <a:off x="11430000" y="6510528"/>
            <a:ext cx="365760" cy="274320"/>
          </a:xfrm>
          <a:prstGeom prst="rect">
            <a:avLst/>
          </a:prstGeom>
          <a:noFill/>
          <a:ln/>
        </p:spPr>
        <p:txBody>
          <a:bodyPr wrap="square" rtlCol="0" anchor="ctr"/>
          <a:lstStyle/>
          <a:p>
            <a:pPr algn="r" indent="0" marL="0">
              <a:buNone/>
            </a:pPr>
            <a:r>
              <a:rPr lang="en-US" sz="900" dirty="0">
                <a:solidFill>
                  <a:srgbClr val="CADCFC"/>
                </a:solidFill>
                <a:latin typeface="Calibri" pitchFamily="34" charset="0"/>
                <a:ea typeface="Calibri" pitchFamily="34" charset="-122"/>
                <a:cs typeface="Calibri" pitchFamily="34" charset="-120"/>
              </a:rPr>
              <a:t>6</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11480"/>
            <a:ext cx="8229600" cy="640080"/>
          </a:xfrm>
          <a:prstGeom prst="rect">
            <a:avLst/>
          </a:prstGeom>
          <a:noFill/>
          <a:ln/>
        </p:spPr>
        <p:txBody>
          <a:bodyPr wrap="square" rtlCol="0" anchor="ctr"/>
          <a:lstStyle/>
          <a:p>
            <a:pPr indent="0" marL="0">
              <a:buNone/>
            </a:pPr>
            <a:r>
              <a:rPr lang="en-US" sz="3200" b="1" dirty="0">
                <a:solidFill>
                  <a:srgbClr val="1E2761"/>
                </a:solidFill>
                <a:latin typeface="Cambria" pitchFamily="34" charset="0"/>
                <a:ea typeface="Cambria" pitchFamily="34" charset="-122"/>
                <a:cs typeface="Cambria" pitchFamily="34" charset="-120"/>
              </a:rPr>
              <a:t>Features &amp; Working</a:t>
            </a:r>
            <a:endParaRPr lang="en-US" sz="3200" dirty="0"/>
          </a:p>
        </p:txBody>
      </p:sp>
      <p:sp>
        <p:nvSpPr>
          <p:cNvPr id="3" name="Shape 1"/>
          <p:cNvSpPr/>
          <p:nvPr/>
        </p:nvSpPr>
        <p:spPr>
          <a:xfrm>
            <a:off x="548640" y="1463040"/>
            <a:ext cx="5394960" cy="2011680"/>
          </a:xfrm>
          <a:prstGeom prst="roundRect">
            <a:avLst>
              <a:gd name="adj" fmla="val 4545"/>
            </a:avLst>
          </a:prstGeom>
          <a:solidFill>
            <a:srgbClr val="F4F7FD"/>
          </a:solidFill>
          <a:ln/>
        </p:spPr>
      </p:sp>
      <p:sp>
        <p:nvSpPr>
          <p:cNvPr id="4" name="Shape 2"/>
          <p:cNvSpPr/>
          <p:nvPr/>
        </p:nvSpPr>
        <p:spPr>
          <a:xfrm>
            <a:off x="777240" y="1691640"/>
            <a:ext cx="640080" cy="640080"/>
          </a:xfrm>
          <a:prstGeom prst="ellipse">
            <a:avLst/>
          </a:prstGeom>
          <a:solidFill>
            <a:srgbClr val="F2994A"/>
          </a:solidFill>
          <a:ln/>
        </p:spPr>
      </p:sp>
      <p:sp>
        <p:nvSpPr>
          <p:cNvPr id="5" name="Text 3"/>
          <p:cNvSpPr/>
          <p:nvPr/>
        </p:nvSpPr>
        <p:spPr>
          <a:xfrm>
            <a:off x="777240" y="1691640"/>
            <a:ext cx="640080" cy="640080"/>
          </a:xfrm>
          <a:prstGeom prst="rect">
            <a:avLst/>
          </a:prstGeom>
          <a:noFill/>
          <a:ln/>
        </p:spPr>
        <p:txBody>
          <a:bodyPr wrap="square" rtlCol="0" anchor="ctr"/>
          <a:lstStyle/>
          <a:p>
            <a:pPr algn="ctr" indent="0" marL="0">
              <a:buNone/>
            </a:pPr>
            <a:r>
              <a:rPr lang="en-US" sz="1960" b="1" dirty="0">
                <a:solidFill>
                  <a:srgbClr val="FFFFFF"/>
                </a:solidFill>
                <a:latin typeface="Arial" pitchFamily="34" charset="0"/>
                <a:ea typeface="Arial" pitchFamily="34" charset="-122"/>
                <a:cs typeface="Arial" pitchFamily="34" charset="-120"/>
              </a:rPr>
              <a:t>🔍</a:t>
            </a:r>
            <a:endParaRPr lang="en-US" sz="1960" dirty="0"/>
          </a:p>
        </p:txBody>
      </p:sp>
      <p:sp>
        <p:nvSpPr>
          <p:cNvPr id="6" name="Text 4"/>
          <p:cNvSpPr txBox="1"/>
          <p:nvPr/>
        </p:nvSpPr>
        <p:spPr>
          <a:xfrm>
            <a:off x="1600200" y="1645920"/>
            <a:ext cx="4114800" cy="365760"/>
          </a:xfrm>
          <a:prstGeom prst="rect">
            <a:avLst/>
          </a:prstGeom>
          <a:noFill/>
          <a:ln/>
        </p:spPr>
        <p:txBody>
          <a:bodyPr wrap="square" rtlCol="0" anchor="ctr"/>
          <a:lstStyle/>
          <a:p>
            <a:pPr indent="0" marL="0">
              <a:buNone/>
            </a:pPr>
            <a:r>
              <a:rPr lang="en-US" sz="1500" b="1" dirty="0">
                <a:solidFill>
                  <a:srgbClr val="1E2761"/>
                </a:solidFill>
                <a:latin typeface="Calibri" pitchFamily="34" charset="0"/>
                <a:ea typeface="Calibri" pitchFamily="34" charset="-122"/>
                <a:cs typeface="Calibri" pitchFamily="34" charset="-120"/>
              </a:rPr>
              <a:t>Explore Services</a:t>
            </a:r>
            <a:endParaRPr lang="en-US" sz="1500" dirty="0"/>
          </a:p>
        </p:txBody>
      </p:sp>
      <p:sp>
        <p:nvSpPr>
          <p:cNvPr id="7" name="Text 5"/>
          <p:cNvSpPr txBox="1"/>
          <p:nvPr/>
        </p:nvSpPr>
        <p:spPr>
          <a:xfrm>
            <a:off x="1600200" y="2057400"/>
            <a:ext cx="4206240" cy="1280160"/>
          </a:xfrm>
          <a:prstGeom prst="rect">
            <a:avLst/>
          </a:prstGeom>
          <a:noFill/>
          <a:ln/>
        </p:spPr>
        <p:txBody>
          <a:bodyPr wrap="square" rtlCol="0" anchor="t"/>
          <a:lstStyle/>
          <a:p>
            <a:pPr indent="0" marL="0">
              <a:buNone/>
            </a:pPr>
            <a:r>
              <a:rPr lang="en-US" sz="1200" dirty="0">
                <a:solidFill>
                  <a:srgbClr val="5B6B8C"/>
                </a:solidFill>
                <a:latin typeface="Calibri" pitchFamily="34" charset="0"/>
                <a:ea typeface="Calibri" pitchFamily="34" charset="-122"/>
                <a:cs typeface="Calibri" pitchFamily="34" charset="-120"/>
              </a:rPr>
              <a:t>Browse all 8 AWS services with descriptions, categories, key features, and business applications</a:t>
            </a:r>
            <a:endParaRPr lang="en-US" sz="1200" dirty="0"/>
          </a:p>
        </p:txBody>
      </p:sp>
      <p:sp>
        <p:nvSpPr>
          <p:cNvPr id="8" name="Shape 6"/>
          <p:cNvSpPr/>
          <p:nvPr/>
        </p:nvSpPr>
        <p:spPr>
          <a:xfrm>
            <a:off x="6309360" y="1463040"/>
            <a:ext cx="5394960" cy="2011680"/>
          </a:xfrm>
          <a:prstGeom prst="roundRect">
            <a:avLst>
              <a:gd name="adj" fmla="val 4545"/>
            </a:avLst>
          </a:prstGeom>
          <a:solidFill>
            <a:srgbClr val="F4F7FD"/>
          </a:solidFill>
          <a:ln/>
        </p:spPr>
      </p:sp>
      <p:sp>
        <p:nvSpPr>
          <p:cNvPr id="9" name="Shape 7"/>
          <p:cNvSpPr/>
          <p:nvPr/>
        </p:nvSpPr>
        <p:spPr>
          <a:xfrm>
            <a:off x="6537960" y="1691640"/>
            <a:ext cx="640080" cy="640080"/>
          </a:xfrm>
          <a:prstGeom prst="ellipse">
            <a:avLst/>
          </a:prstGeom>
          <a:solidFill>
            <a:srgbClr val="F2994A"/>
          </a:solidFill>
          <a:ln/>
        </p:spPr>
      </p:sp>
      <p:sp>
        <p:nvSpPr>
          <p:cNvPr id="10" name="Text 8"/>
          <p:cNvSpPr/>
          <p:nvPr/>
        </p:nvSpPr>
        <p:spPr>
          <a:xfrm>
            <a:off x="6537960" y="1691640"/>
            <a:ext cx="640080" cy="640080"/>
          </a:xfrm>
          <a:prstGeom prst="rect">
            <a:avLst/>
          </a:prstGeom>
          <a:noFill/>
          <a:ln/>
        </p:spPr>
        <p:txBody>
          <a:bodyPr wrap="square" rtlCol="0" anchor="ctr"/>
          <a:lstStyle/>
          <a:p>
            <a:pPr algn="ctr" indent="0" marL="0">
              <a:buNone/>
            </a:pPr>
            <a:r>
              <a:rPr lang="en-US" sz="1960" b="1" dirty="0">
                <a:solidFill>
                  <a:srgbClr val="FFFFFF"/>
                </a:solidFill>
                <a:latin typeface="Arial" pitchFamily="34" charset="0"/>
                <a:ea typeface="Arial" pitchFamily="34" charset="-122"/>
                <a:cs typeface="Arial" pitchFamily="34" charset="-120"/>
              </a:rPr>
              <a:t>⚖</a:t>
            </a:r>
            <a:endParaRPr lang="en-US" sz="1960" dirty="0"/>
          </a:p>
        </p:txBody>
      </p:sp>
      <p:sp>
        <p:nvSpPr>
          <p:cNvPr id="11" name="Text 9"/>
          <p:cNvSpPr txBox="1"/>
          <p:nvPr/>
        </p:nvSpPr>
        <p:spPr>
          <a:xfrm>
            <a:off x="7360920" y="1645920"/>
            <a:ext cx="4114800" cy="365760"/>
          </a:xfrm>
          <a:prstGeom prst="rect">
            <a:avLst/>
          </a:prstGeom>
          <a:noFill/>
          <a:ln/>
        </p:spPr>
        <p:txBody>
          <a:bodyPr wrap="square" rtlCol="0" anchor="ctr"/>
          <a:lstStyle/>
          <a:p>
            <a:pPr indent="0" marL="0">
              <a:buNone/>
            </a:pPr>
            <a:r>
              <a:rPr lang="en-US" sz="1500" b="1" dirty="0">
                <a:solidFill>
                  <a:srgbClr val="1E2761"/>
                </a:solidFill>
                <a:latin typeface="Calibri" pitchFamily="34" charset="0"/>
                <a:ea typeface="Calibri" pitchFamily="34" charset="-122"/>
                <a:cs typeface="Calibri" pitchFamily="34" charset="-120"/>
              </a:rPr>
              <a:t>Compare Services</a:t>
            </a:r>
            <a:endParaRPr lang="en-US" sz="1500" dirty="0"/>
          </a:p>
        </p:txBody>
      </p:sp>
      <p:sp>
        <p:nvSpPr>
          <p:cNvPr id="12" name="Text 10"/>
          <p:cNvSpPr txBox="1"/>
          <p:nvPr/>
        </p:nvSpPr>
        <p:spPr>
          <a:xfrm>
            <a:off x="7360920" y="2057400"/>
            <a:ext cx="4206240" cy="1280160"/>
          </a:xfrm>
          <a:prstGeom prst="rect">
            <a:avLst/>
          </a:prstGeom>
          <a:noFill/>
          <a:ln/>
        </p:spPr>
        <p:txBody>
          <a:bodyPr wrap="square" rtlCol="0" anchor="t"/>
          <a:lstStyle/>
          <a:p>
            <a:pPr indent="0" marL="0">
              <a:buNone/>
            </a:pPr>
            <a:r>
              <a:rPr lang="en-US" sz="1200" dirty="0">
                <a:solidFill>
                  <a:srgbClr val="5B6B8C"/>
                </a:solidFill>
                <a:latin typeface="Calibri" pitchFamily="34" charset="0"/>
                <a:ea typeface="Calibri" pitchFamily="34" charset="-122"/>
                <a:cs typeface="Calibri" pitchFamily="34" charset="-120"/>
              </a:rPr>
              <a:t>Select two services and view a side-by-side comparison table</a:t>
            </a:r>
            <a:endParaRPr lang="en-US" sz="1200" dirty="0"/>
          </a:p>
        </p:txBody>
      </p:sp>
      <p:sp>
        <p:nvSpPr>
          <p:cNvPr id="13" name="Shape 11"/>
          <p:cNvSpPr/>
          <p:nvPr/>
        </p:nvSpPr>
        <p:spPr>
          <a:xfrm>
            <a:off x="548640" y="3749040"/>
            <a:ext cx="5394960" cy="2011680"/>
          </a:xfrm>
          <a:prstGeom prst="roundRect">
            <a:avLst>
              <a:gd name="adj" fmla="val 4545"/>
            </a:avLst>
          </a:prstGeom>
          <a:solidFill>
            <a:srgbClr val="F4F7FD"/>
          </a:solidFill>
          <a:ln/>
        </p:spPr>
      </p:sp>
      <p:sp>
        <p:nvSpPr>
          <p:cNvPr id="14" name="Shape 12"/>
          <p:cNvSpPr/>
          <p:nvPr/>
        </p:nvSpPr>
        <p:spPr>
          <a:xfrm>
            <a:off x="777240" y="3977640"/>
            <a:ext cx="640080" cy="640080"/>
          </a:xfrm>
          <a:prstGeom prst="ellipse">
            <a:avLst/>
          </a:prstGeom>
          <a:solidFill>
            <a:srgbClr val="F2994A"/>
          </a:solidFill>
          <a:ln/>
        </p:spPr>
      </p:sp>
      <p:sp>
        <p:nvSpPr>
          <p:cNvPr id="15" name="Text 13"/>
          <p:cNvSpPr/>
          <p:nvPr/>
        </p:nvSpPr>
        <p:spPr>
          <a:xfrm>
            <a:off x="777240" y="3977640"/>
            <a:ext cx="640080" cy="640080"/>
          </a:xfrm>
          <a:prstGeom prst="rect">
            <a:avLst/>
          </a:prstGeom>
          <a:noFill/>
          <a:ln/>
        </p:spPr>
        <p:txBody>
          <a:bodyPr wrap="square" rtlCol="0" anchor="ctr"/>
          <a:lstStyle/>
          <a:p>
            <a:pPr algn="ctr" indent="0" marL="0">
              <a:buNone/>
            </a:pPr>
            <a:r>
              <a:rPr lang="en-US" sz="1960" b="1" dirty="0">
                <a:solidFill>
                  <a:srgbClr val="FFFFFF"/>
                </a:solidFill>
                <a:latin typeface="Arial" pitchFamily="34" charset="0"/>
                <a:ea typeface="Arial" pitchFamily="34" charset="-122"/>
                <a:cs typeface="Arial" pitchFamily="34" charset="-120"/>
              </a:rPr>
              <a:t>📊</a:t>
            </a:r>
            <a:endParaRPr lang="en-US" sz="1960" dirty="0"/>
          </a:p>
        </p:txBody>
      </p:sp>
      <p:sp>
        <p:nvSpPr>
          <p:cNvPr id="16" name="Text 14"/>
          <p:cNvSpPr txBox="1"/>
          <p:nvPr/>
        </p:nvSpPr>
        <p:spPr>
          <a:xfrm>
            <a:off x="1600200" y="3931920"/>
            <a:ext cx="4114800" cy="365760"/>
          </a:xfrm>
          <a:prstGeom prst="rect">
            <a:avLst/>
          </a:prstGeom>
          <a:noFill/>
          <a:ln/>
        </p:spPr>
        <p:txBody>
          <a:bodyPr wrap="square" rtlCol="0" anchor="ctr"/>
          <a:lstStyle/>
          <a:p>
            <a:pPr indent="0" marL="0">
              <a:buNone/>
            </a:pPr>
            <a:r>
              <a:rPr lang="en-US" sz="1500" b="1" dirty="0">
                <a:solidFill>
                  <a:srgbClr val="1E2761"/>
                </a:solidFill>
                <a:latin typeface="Calibri" pitchFamily="34" charset="0"/>
                <a:ea typeface="Calibri" pitchFamily="34" charset="-122"/>
                <a:cs typeface="Calibri" pitchFamily="34" charset="-120"/>
              </a:rPr>
              <a:t>Dashboard Metrics</a:t>
            </a:r>
            <a:endParaRPr lang="en-US" sz="1500" dirty="0"/>
          </a:p>
        </p:txBody>
      </p:sp>
      <p:sp>
        <p:nvSpPr>
          <p:cNvPr id="17" name="Text 15"/>
          <p:cNvSpPr txBox="1"/>
          <p:nvPr/>
        </p:nvSpPr>
        <p:spPr>
          <a:xfrm>
            <a:off x="1600200" y="4343400"/>
            <a:ext cx="4206240" cy="1280160"/>
          </a:xfrm>
          <a:prstGeom prst="rect">
            <a:avLst/>
          </a:prstGeom>
          <a:noFill/>
          <a:ln/>
        </p:spPr>
        <p:txBody>
          <a:bodyPr wrap="square" rtlCol="0" anchor="t"/>
          <a:lstStyle/>
          <a:p>
            <a:pPr indent="0" marL="0">
              <a:buNone/>
            </a:pPr>
            <a:r>
              <a:rPr lang="en-US" sz="1200" dirty="0">
                <a:solidFill>
                  <a:srgbClr val="5B6B8C"/>
                </a:solidFill>
                <a:latin typeface="Calibri" pitchFamily="34" charset="0"/>
                <a:ea typeface="Calibri" pitchFamily="34" charset="-122"/>
                <a:cs typeface="Calibri" pitchFamily="34" charset="-120"/>
              </a:rPr>
              <a:t>Quick view of total services, categories, and application type</a:t>
            </a:r>
            <a:endParaRPr lang="en-US" sz="1200" dirty="0"/>
          </a:p>
        </p:txBody>
      </p:sp>
      <p:sp>
        <p:nvSpPr>
          <p:cNvPr id="18" name="Shape 16"/>
          <p:cNvSpPr/>
          <p:nvPr/>
        </p:nvSpPr>
        <p:spPr>
          <a:xfrm>
            <a:off x="6309360" y="3749040"/>
            <a:ext cx="5394960" cy="2011680"/>
          </a:xfrm>
          <a:prstGeom prst="roundRect">
            <a:avLst>
              <a:gd name="adj" fmla="val 4545"/>
            </a:avLst>
          </a:prstGeom>
          <a:solidFill>
            <a:srgbClr val="F4F7FD"/>
          </a:solidFill>
          <a:ln/>
        </p:spPr>
      </p:sp>
      <p:sp>
        <p:nvSpPr>
          <p:cNvPr id="19" name="Shape 17"/>
          <p:cNvSpPr/>
          <p:nvPr/>
        </p:nvSpPr>
        <p:spPr>
          <a:xfrm>
            <a:off x="6537960" y="3977640"/>
            <a:ext cx="640080" cy="640080"/>
          </a:xfrm>
          <a:prstGeom prst="ellipse">
            <a:avLst/>
          </a:prstGeom>
          <a:solidFill>
            <a:srgbClr val="F2994A"/>
          </a:solidFill>
          <a:ln/>
        </p:spPr>
      </p:sp>
      <p:sp>
        <p:nvSpPr>
          <p:cNvPr id="20" name="Text 18"/>
          <p:cNvSpPr/>
          <p:nvPr/>
        </p:nvSpPr>
        <p:spPr>
          <a:xfrm>
            <a:off x="6537960" y="3977640"/>
            <a:ext cx="640080" cy="640080"/>
          </a:xfrm>
          <a:prstGeom prst="rect">
            <a:avLst/>
          </a:prstGeom>
          <a:noFill/>
          <a:ln/>
        </p:spPr>
        <p:txBody>
          <a:bodyPr wrap="square" rtlCol="0" anchor="ctr"/>
          <a:lstStyle/>
          <a:p>
            <a:pPr algn="ctr" indent="0" marL="0">
              <a:buNone/>
            </a:pPr>
            <a:r>
              <a:rPr lang="en-US" sz="1960" b="1" dirty="0">
                <a:solidFill>
                  <a:srgbClr val="FFFFFF"/>
                </a:solidFill>
                <a:latin typeface="Arial" pitchFamily="34" charset="0"/>
                <a:ea typeface="Arial" pitchFamily="34" charset="-122"/>
                <a:cs typeface="Arial" pitchFamily="34" charset="-120"/>
              </a:rPr>
              <a:t>ℹ</a:t>
            </a:r>
            <a:endParaRPr lang="en-US" sz="1960" dirty="0"/>
          </a:p>
        </p:txBody>
      </p:sp>
      <p:sp>
        <p:nvSpPr>
          <p:cNvPr id="21" name="Text 19"/>
          <p:cNvSpPr txBox="1"/>
          <p:nvPr/>
        </p:nvSpPr>
        <p:spPr>
          <a:xfrm>
            <a:off x="7360920" y="3931920"/>
            <a:ext cx="4114800" cy="365760"/>
          </a:xfrm>
          <a:prstGeom prst="rect">
            <a:avLst/>
          </a:prstGeom>
          <a:noFill/>
          <a:ln/>
        </p:spPr>
        <p:txBody>
          <a:bodyPr wrap="square" rtlCol="0" anchor="ctr"/>
          <a:lstStyle/>
          <a:p>
            <a:pPr indent="0" marL="0">
              <a:buNone/>
            </a:pPr>
            <a:r>
              <a:rPr lang="en-US" sz="1500" b="1" dirty="0">
                <a:solidFill>
                  <a:srgbClr val="1E2761"/>
                </a:solidFill>
                <a:latin typeface="Calibri" pitchFamily="34" charset="0"/>
                <a:ea typeface="Calibri" pitchFamily="34" charset="-122"/>
                <a:cs typeface="Calibri" pitchFamily="34" charset="-120"/>
              </a:rPr>
              <a:t>About Project</a:t>
            </a:r>
            <a:endParaRPr lang="en-US" sz="1500" dirty="0"/>
          </a:p>
        </p:txBody>
      </p:sp>
      <p:sp>
        <p:nvSpPr>
          <p:cNvPr id="22" name="Text 20"/>
          <p:cNvSpPr txBox="1"/>
          <p:nvPr/>
        </p:nvSpPr>
        <p:spPr>
          <a:xfrm>
            <a:off x="7360920" y="4343400"/>
            <a:ext cx="4206240" cy="1280160"/>
          </a:xfrm>
          <a:prstGeom prst="rect">
            <a:avLst/>
          </a:prstGeom>
          <a:noFill/>
          <a:ln/>
        </p:spPr>
        <p:txBody>
          <a:bodyPr wrap="square" rtlCol="0" anchor="t"/>
          <a:lstStyle/>
          <a:p>
            <a:pPr indent="0" marL="0">
              <a:buNone/>
            </a:pPr>
            <a:r>
              <a:rPr lang="en-US" sz="1200" dirty="0">
                <a:solidFill>
                  <a:srgbClr val="5B6B8C"/>
                </a:solidFill>
                <a:latin typeface="Calibri" pitchFamily="34" charset="0"/>
                <a:ea typeface="Calibri" pitchFamily="34" charset="-122"/>
                <a:cs typeface="Calibri" pitchFamily="34" charset="-120"/>
              </a:rPr>
              <a:t>Project description, objectives, technologies, and scope</a:t>
            </a:r>
            <a:endParaRPr lang="en-US" sz="1200" dirty="0"/>
          </a:p>
        </p:txBody>
      </p:sp>
      <p:sp>
        <p:nvSpPr>
          <p:cNvPr id="23" name="Text 21"/>
          <p:cNvSpPr/>
          <p:nvPr/>
        </p:nvSpPr>
        <p:spPr>
          <a:xfrm>
            <a:off x="457200" y="6510528"/>
            <a:ext cx="5486400" cy="274320"/>
          </a:xfrm>
          <a:prstGeom prst="rect">
            <a:avLst/>
          </a:prstGeom>
          <a:noFill/>
          <a:ln/>
        </p:spPr>
        <p:txBody>
          <a:bodyPr wrap="square" rtlCol="0" anchor="ctr"/>
          <a:lstStyle/>
          <a:p>
            <a:pPr algn="l" indent="0" marL="0">
              <a:buNone/>
            </a:pPr>
            <a:r>
              <a:rPr lang="en-US" sz="900" dirty="0">
                <a:solidFill>
                  <a:srgbClr val="5B6B8C"/>
                </a:solidFill>
                <a:latin typeface="Calibri" pitchFamily="34" charset="0"/>
                <a:ea typeface="Calibri" pitchFamily="34" charset="-122"/>
                <a:cs typeface="Calibri" pitchFamily="34" charset="-120"/>
              </a:rPr>
              <a:t>AWS Service Explorer</a:t>
            </a:r>
            <a:endParaRPr lang="en-US" sz="900" dirty="0"/>
          </a:p>
        </p:txBody>
      </p:sp>
      <p:sp>
        <p:nvSpPr>
          <p:cNvPr id="24" name="Text 22"/>
          <p:cNvSpPr/>
          <p:nvPr/>
        </p:nvSpPr>
        <p:spPr>
          <a:xfrm>
            <a:off x="11430000" y="6510528"/>
            <a:ext cx="365760" cy="274320"/>
          </a:xfrm>
          <a:prstGeom prst="rect">
            <a:avLst/>
          </a:prstGeom>
          <a:noFill/>
          <a:ln/>
        </p:spPr>
        <p:txBody>
          <a:bodyPr wrap="square" rtlCol="0" anchor="ctr"/>
          <a:lstStyle/>
          <a:p>
            <a:pPr algn="r" indent="0" marL="0">
              <a:buNone/>
            </a:pPr>
            <a:r>
              <a:rPr lang="en-US" sz="900" dirty="0">
                <a:solidFill>
                  <a:srgbClr val="5B6B8C"/>
                </a:solidFill>
                <a:latin typeface="Calibri" pitchFamily="34" charset="0"/>
                <a:ea typeface="Calibri" pitchFamily="34" charset="-122"/>
                <a:cs typeface="Calibri" pitchFamily="34" charset="-120"/>
              </a:rPr>
              <a:t>7</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11480"/>
            <a:ext cx="8229600" cy="640080"/>
          </a:xfrm>
          <a:prstGeom prst="rect">
            <a:avLst/>
          </a:prstGeom>
          <a:noFill/>
          <a:ln/>
        </p:spPr>
        <p:txBody>
          <a:bodyPr wrap="square" rtlCol="0" anchor="ctr"/>
          <a:lstStyle/>
          <a:p>
            <a:pPr indent="0" marL="0">
              <a:buNone/>
            </a:pPr>
            <a:r>
              <a:rPr lang="en-US" sz="3200" b="1" dirty="0">
                <a:solidFill>
                  <a:srgbClr val="1E2761"/>
                </a:solidFill>
                <a:latin typeface="Cambria" pitchFamily="34" charset="0"/>
                <a:ea typeface="Cambria" pitchFamily="34" charset="-122"/>
                <a:cs typeface="Cambria" pitchFamily="34" charset="-120"/>
              </a:rPr>
              <a:t>Screenshots / Demo</a:t>
            </a:r>
            <a:endParaRPr lang="en-US" sz="3200" dirty="0"/>
          </a:p>
        </p:txBody>
      </p:sp>
      <p:sp>
        <p:nvSpPr>
          <p:cNvPr id="3" name="Text 1"/>
          <p:cNvSpPr txBox="1"/>
          <p:nvPr/>
        </p:nvSpPr>
        <p:spPr>
          <a:xfrm>
            <a:off x="548640" y="1051560"/>
            <a:ext cx="10972800" cy="365760"/>
          </a:xfrm>
          <a:prstGeom prst="rect">
            <a:avLst/>
          </a:prstGeom>
          <a:noFill/>
          <a:ln/>
        </p:spPr>
        <p:txBody>
          <a:bodyPr wrap="square" rtlCol="0" anchor="ctr"/>
          <a:lstStyle/>
          <a:p>
            <a:pPr indent="0" marL="0">
              <a:buNone/>
            </a:pPr>
            <a:r>
              <a:rPr lang="en-US" sz="1200" i="1" dirty="0">
                <a:solidFill>
                  <a:srgbClr val="5B6B8C"/>
                </a:solidFill>
                <a:latin typeface="Calibri" pitchFamily="34" charset="0"/>
                <a:ea typeface="Calibri" pitchFamily="34" charset="-122"/>
                <a:cs typeface="Calibri" pitchFamily="34" charset="-120"/>
              </a:rPr>
              <a:t>Replace the placeholders below with real screenshots of Explore, Compare, and About pages before presenting.</a:t>
            </a:r>
            <a:endParaRPr lang="en-US" sz="1200" dirty="0"/>
          </a:p>
        </p:txBody>
      </p:sp>
      <p:sp>
        <p:nvSpPr>
          <p:cNvPr id="4" name="Shape 2"/>
          <p:cNvSpPr/>
          <p:nvPr/>
        </p:nvSpPr>
        <p:spPr>
          <a:xfrm>
            <a:off x="548640" y="1600200"/>
            <a:ext cx="3520440" cy="4297680"/>
          </a:xfrm>
          <a:prstGeom prst="roundRect">
            <a:avLst>
              <a:gd name="adj" fmla="val 2078"/>
            </a:avLst>
          </a:prstGeom>
          <a:solidFill>
            <a:srgbClr val="F4F7FD"/>
          </a:solidFill>
          <a:ln w="19050">
            <a:solidFill>
              <a:srgbClr val="CADCFC"/>
            </a:solidFill>
            <a:prstDash val="solid"/>
          </a:ln>
        </p:spPr>
      </p:sp>
      <p:sp>
        <p:nvSpPr>
          <p:cNvPr id="5" name="Text 3"/>
          <p:cNvSpPr txBox="1"/>
          <p:nvPr/>
        </p:nvSpPr>
        <p:spPr>
          <a:xfrm>
            <a:off x="548640" y="3200400"/>
            <a:ext cx="3520440" cy="914400"/>
          </a:xfrm>
          <a:prstGeom prst="rect">
            <a:avLst/>
          </a:prstGeom>
          <a:noFill/>
          <a:ln/>
        </p:spPr>
        <p:txBody>
          <a:bodyPr wrap="square" rtlCol="0" anchor="ctr"/>
          <a:lstStyle/>
          <a:p>
            <a:pPr algn="ctr" indent="0" marL="0">
              <a:buNone/>
            </a:pPr>
            <a:r>
              <a:rPr lang="en-US" sz="4000" dirty="0">
                <a:solidFill>
                  <a:srgbClr val="CADCFC"/>
                </a:solidFill>
                <a:latin typeface="Arial" pitchFamily="34" charset="0"/>
                <a:ea typeface="Arial" pitchFamily="34" charset="-122"/>
                <a:cs typeface="Arial" pitchFamily="34" charset="-120"/>
              </a:rPr>
              <a:t>🖼</a:t>
            </a:r>
            <a:endParaRPr lang="en-US" sz="4000" dirty="0"/>
          </a:p>
        </p:txBody>
      </p:sp>
      <p:sp>
        <p:nvSpPr>
          <p:cNvPr id="6" name="Text 4"/>
          <p:cNvSpPr txBox="1"/>
          <p:nvPr/>
        </p:nvSpPr>
        <p:spPr>
          <a:xfrm>
            <a:off x="548640" y="4114800"/>
            <a:ext cx="3520440" cy="457200"/>
          </a:xfrm>
          <a:prstGeom prst="rect">
            <a:avLst/>
          </a:prstGeom>
          <a:noFill/>
          <a:ln/>
        </p:spPr>
        <p:txBody>
          <a:bodyPr wrap="square" rtlCol="0" anchor="ctr"/>
          <a:lstStyle/>
          <a:p>
            <a:pPr algn="ctr" indent="0" marL="0">
              <a:buNone/>
            </a:pPr>
            <a:r>
              <a:rPr lang="en-US" sz="1200" dirty="0">
                <a:solidFill>
                  <a:srgbClr val="5B6B8C"/>
                </a:solidFill>
                <a:latin typeface="Calibri" pitchFamily="34" charset="0"/>
                <a:ea typeface="Calibri" pitchFamily="34" charset="-122"/>
                <a:cs typeface="Calibri" pitchFamily="34" charset="-120"/>
              </a:rPr>
              <a:t>[ Explore Services screenshot ]</a:t>
            </a:r>
            <a:endParaRPr lang="en-US" sz="1200" dirty="0"/>
          </a:p>
        </p:txBody>
      </p:sp>
      <p:sp>
        <p:nvSpPr>
          <p:cNvPr id="7" name="Text 5"/>
          <p:cNvSpPr txBox="1"/>
          <p:nvPr/>
        </p:nvSpPr>
        <p:spPr>
          <a:xfrm>
            <a:off x="548640" y="5532120"/>
            <a:ext cx="3520440" cy="320040"/>
          </a:xfrm>
          <a:prstGeom prst="rect">
            <a:avLst/>
          </a:prstGeom>
          <a:noFill/>
          <a:ln/>
        </p:spPr>
        <p:txBody>
          <a:bodyPr wrap="square" rtlCol="0" anchor="ctr"/>
          <a:lstStyle/>
          <a:p>
            <a:pPr algn="ctr" indent="0" marL="0">
              <a:buNone/>
            </a:pPr>
            <a:r>
              <a:rPr lang="en-US" sz="1300" b="1" dirty="0">
                <a:solidFill>
                  <a:srgbClr val="1E2761"/>
                </a:solidFill>
                <a:latin typeface="Calibri" pitchFamily="34" charset="0"/>
                <a:ea typeface="Calibri" pitchFamily="34" charset="-122"/>
                <a:cs typeface="Calibri" pitchFamily="34" charset="-120"/>
              </a:rPr>
              <a:t>Explore Services</a:t>
            </a:r>
            <a:endParaRPr lang="en-US" sz="1300" dirty="0"/>
          </a:p>
        </p:txBody>
      </p:sp>
      <p:sp>
        <p:nvSpPr>
          <p:cNvPr id="8" name="Shape 6"/>
          <p:cNvSpPr/>
          <p:nvPr/>
        </p:nvSpPr>
        <p:spPr>
          <a:xfrm>
            <a:off x="4325112" y="1600200"/>
            <a:ext cx="3520440" cy="4297680"/>
          </a:xfrm>
          <a:prstGeom prst="roundRect">
            <a:avLst>
              <a:gd name="adj" fmla="val 2078"/>
            </a:avLst>
          </a:prstGeom>
          <a:solidFill>
            <a:srgbClr val="F4F7FD"/>
          </a:solidFill>
          <a:ln w="19050">
            <a:solidFill>
              <a:srgbClr val="CADCFC"/>
            </a:solidFill>
            <a:prstDash val="solid"/>
          </a:ln>
        </p:spPr>
      </p:sp>
      <p:sp>
        <p:nvSpPr>
          <p:cNvPr id="9" name="Text 7"/>
          <p:cNvSpPr txBox="1"/>
          <p:nvPr/>
        </p:nvSpPr>
        <p:spPr>
          <a:xfrm>
            <a:off x="4325112" y="3200400"/>
            <a:ext cx="3520440" cy="914400"/>
          </a:xfrm>
          <a:prstGeom prst="rect">
            <a:avLst/>
          </a:prstGeom>
          <a:noFill/>
          <a:ln/>
        </p:spPr>
        <p:txBody>
          <a:bodyPr wrap="square" rtlCol="0" anchor="ctr"/>
          <a:lstStyle/>
          <a:p>
            <a:pPr algn="ctr" indent="0" marL="0">
              <a:buNone/>
            </a:pPr>
            <a:r>
              <a:rPr lang="en-US" sz="4000" dirty="0">
                <a:solidFill>
                  <a:srgbClr val="CADCFC"/>
                </a:solidFill>
                <a:latin typeface="Arial" pitchFamily="34" charset="0"/>
                <a:ea typeface="Arial" pitchFamily="34" charset="-122"/>
                <a:cs typeface="Arial" pitchFamily="34" charset="-120"/>
              </a:rPr>
              <a:t>🖼</a:t>
            </a:r>
            <a:endParaRPr lang="en-US" sz="4000" dirty="0"/>
          </a:p>
        </p:txBody>
      </p:sp>
      <p:sp>
        <p:nvSpPr>
          <p:cNvPr id="10" name="Text 8"/>
          <p:cNvSpPr txBox="1"/>
          <p:nvPr/>
        </p:nvSpPr>
        <p:spPr>
          <a:xfrm>
            <a:off x="4325112" y="4114800"/>
            <a:ext cx="3520440" cy="457200"/>
          </a:xfrm>
          <a:prstGeom prst="rect">
            <a:avLst/>
          </a:prstGeom>
          <a:noFill/>
          <a:ln/>
        </p:spPr>
        <p:txBody>
          <a:bodyPr wrap="square" rtlCol="0" anchor="ctr"/>
          <a:lstStyle/>
          <a:p>
            <a:pPr algn="ctr" indent="0" marL="0">
              <a:buNone/>
            </a:pPr>
            <a:r>
              <a:rPr lang="en-US" sz="1200" dirty="0">
                <a:solidFill>
                  <a:srgbClr val="5B6B8C"/>
                </a:solidFill>
                <a:latin typeface="Calibri" pitchFamily="34" charset="0"/>
                <a:ea typeface="Calibri" pitchFamily="34" charset="-122"/>
                <a:cs typeface="Calibri" pitchFamily="34" charset="-120"/>
              </a:rPr>
              <a:t>[ Compare Services screenshot ]</a:t>
            </a:r>
            <a:endParaRPr lang="en-US" sz="1200" dirty="0"/>
          </a:p>
        </p:txBody>
      </p:sp>
      <p:sp>
        <p:nvSpPr>
          <p:cNvPr id="11" name="Text 9"/>
          <p:cNvSpPr txBox="1"/>
          <p:nvPr/>
        </p:nvSpPr>
        <p:spPr>
          <a:xfrm>
            <a:off x="4325112" y="5532120"/>
            <a:ext cx="3520440" cy="320040"/>
          </a:xfrm>
          <a:prstGeom prst="rect">
            <a:avLst/>
          </a:prstGeom>
          <a:noFill/>
          <a:ln/>
        </p:spPr>
        <p:txBody>
          <a:bodyPr wrap="square" rtlCol="0" anchor="ctr"/>
          <a:lstStyle/>
          <a:p>
            <a:pPr algn="ctr" indent="0" marL="0">
              <a:buNone/>
            </a:pPr>
            <a:r>
              <a:rPr lang="en-US" sz="1300" b="1" dirty="0">
                <a:solidFill>
                  <a:srgbClr val="1E2761"/>
                </a:solidFill>
                <a:latin typeface="Calibri" pitchFamily="34" charset="0"/>
                <a:ea typeface="Calibri" pitchFamily="34" charset="-122"/>
                <a:cs typeface="Calibri" pitchFamily="34" charset="-120"/>
              </a:rPr>
              <a:t>Compare Services</a:t>
            </a:r>
            <a:endParaRPr lang="en-US" sz="1300" dirty="0"/>
          </a:p>
        </p:txBody>
      </p:sp>
      <p:sp>
        <p:nvSpPr>
          <p:cNvPr id="12" name="Shape 10"/>
          <p:cNvSpPr/>
          <p:nvPr/>
        </p:nvSpPr>
        <p:spPr>
          <a:xfrm>
            <a:off x="8101584" y="1600200"/>
            <a:ext cx="3520440" cy="4297680"/>
          </a:xfrm>
          <a:prstGeom prst="roundRect">
            <a:avLst>
              <a:gd name="adj" fmla="val 2078"/>
            </a:avLst>
          </a:prstGeom>
          <a:solidFill>
            <a:srgbClr val="F4F7FD"/>
          </a:solidFill>
          <a:ln w="19050">
            <a:solidFill>
              <a:srgbClr val="CADCFC"/>
            </a:solidFill>
            <a:prstDash val="solid"/>
          </a:ln>
        </p:spPr>
      </p:sp>
      <p:sp>
        <p:nvSpPr>
          <p:cNvPr id="13" name="Text 11"/>
          <p:cNvSpPr txBox="1"/>
          <p:nvPr/>
        </p:nvSpPr>
        <p:spPr>
          <a:xfrm>
            <a:off x="8101584" y="3200400"/>
            <a:ext cx="3520440" cy="914400"/>
          </a:xfrm>
          <a:prstGeom prst="rect">
            <a:avLst/>
          </a:prstGeom>
          <a:noFill/>
          <a:ln/>
        </p:spPr>
        <p:txBody>
          <a:bodyPr wrap="square" rtlCol="0" anchor="ctr"/>
          <a:lstStyle/>
          <a:p>
            <a:pPr algn="ctr" indent="0" marL="0">
              <a:buNone/>
            </a:pPr>
            <a:r>
              <a:rPr lang="en-US" sz="4000" dirty="0">
                <a:solidFill>
                  <a:srgbClr val="CADCFC"/>
                </a:solidFill>
                <a:latin typeface="Arial" pitchFamily="34" charset="0"/>
                <a:ea typeface="Arial" pitchFamily="34" charset="-122"/>
                <a:cs typeface="Arial" pitchFamily="34" charset="-120"/>
              </a:rPr>
              <a:t>🖼</a:t>
            </a:r>
            <a:endParaRPr lang="en-US" sz="4000" dirty="0"/>
          </a:p>
        </p:txBody>
      </p:sp>
      <p:sp>
        <p:nvSpPr>
          <p:cNvPr id="14" name="Text 12"/>
          <p:cNvSpPr txBox="1"/>
          <p:nvPr/>
        </p:nvSpPr>
        <p:spPr>
          <a:xfrm>
            <a:off x="8101584" y="4114800"/>
            <a:ext cx="3520440" cy="457200"/>
          </a:xfrm>
          <a:prstGeom prst="rect">
            <a:avLst/>
          </a:prstGeom>
          <a:noFill/>
          <a:ln/>
        </p:spPr>
        <p:txBody>
          <a:bodyPr wrap="square" rtlCol="0" anchor="ctr"/>
          <a:lstStyle/>
          <a:p>
            <a:pPr algn="ctr" indent="0" marL="0">
              <a:buNone/>
            </a:pPr>
            <a:r>
              <a:rPr lang="en-US" sz="1200" dirty="0">
                <a:solidFill>
                  <a:srgbClr val="5B6B8C"/>
                </a:solidFill>
                <a:latin typeface="Calibri" pitchFamily="34" charset="0"/>
                <a:ea typeface="Calibri" pitchFamily="34" charset="-122"/>
                <a:cs typeface="Calibri" pitchFamily="34" charset="-120"/>
              </a:rPr>
              <a:t>[ About Project screenshot ]</a:t>
            </a:r>
            <a:endParaRPr lang="en-US" sz="1200" dirty="0"/>
          </a:p>
        </p:txBody>
      </p:sp>
      <p:sp>
        <p:nvSpPr>
          <p:cNvPr id="15" name="Text 13"/>
          <p:cNvSpPr txBox="1"/>
          <p:nvPr/>
        </p:nvSpPr>
        <p:spPr>
          <a:xfrm>
            <a:off x="8101584" y="5532120"/>
            <a:ext cx="3520440" cy="320040"/>
          </a:xfrm>
          <a:prstGeom prst="rect">
            <a:avLst/>
          </a:prstGeom>
          <a:noFill/>
          <a:ln/>
        </p:spPr>
        <p:txBody>
          <a:bodyPr wrap="square" rtlCol="0" anchor="ctr"/>
          <a:lstStyle/>
          <a:p>
            <a:pPr algn="ctr" indent="0" marL="0">
              <a:buNone/>
            </a:pPr>
            <a:r>
              <a:rPr lang="en-US" sz="1300" b="1" dirty="0">
                <a:solidFill>
                  <a:srgbClr val="1E2761"/>
                </a:solidFill>
                <a:latin typeface="Calibri" pitchFamily="34" charset="0"/>
                <a:ea typeface="Calibri" pitchFamily="34" charset="-122"/>
                <a:cs typeface="Calibri" pitchFamily="34" charset="-120"/>
              </a:rPr>
              <a:t>About Project</a:t>
            </a:r>
            <a:endParaRPr lang="en-US" sz="1300" dirty="0"/>
          </a:p>
        </p:txBody>
      </p:sp>
      <p:sp>
        <p:nvSpPr>
          <p:cNvPr id="16" name="Text 14"/>
          <p:cNvSpPr/>
          <p:nvPr/>
        </p:nvSpPr>
        <p:spPr>
          <a:xfrm>
            <a:off x="457200" y="6510528"/>
            <a:ext cx="5486400" cy="274320"/>
          </a:xfrm>
          <a:prstGeom prst="rect">
            <a:avLst/>
          </a:prstGeom>
          <a:noFill/>
          <a:ln/>
        </p:spPr>
        <p:txBody>
          <a:bodyPr wrap="square" rtlCol="0" anchor="ctr"/>
          <a:lstStyle/>
          <a:p>
            <a:pPr algn="l" indent="0" marL="0">
              <a:buNone/>
            </a:pPr>
            <a:r>
              <a:rPr lang="en-US" sz="900" dirty="0">
                <a:solidFill>
                  <a:srgbClr val="5B6B8C"/>
                </a:solidFill>
                <a:latin typeface="Calibri" pitchFamily="34" charset="0"/>
                <a:ea typeface="Calibri" pitchFamily="34" charset="-122"/>
                <a:cs typeface="Calibri" pitchFamily="34" charset="-120"/>
              </a:rPr>
              <a:t>AWS Service Explorer</a:t>
            </a:r>
            <a:endParaRPr lang="en-US" sz="900" dirty="0"/>
          </a:p>
        </p:txBody>
      </p:sp>
      <p:sp>
        <p:nvSpPr>
          <p:cNvPr id="17" name="Text 15"/>
          <p:cNvSpPr/>
          <p:nvPr/>
        </p:nvSpPr>
        <p:spPr>
          <a:xfrm>
            <a:off x="11430000" y="6510528"/>
            <a:ext cx="365760" cy="274320"/>
          </a:xfrm>
          <a:prstGeom prst="rect">
            <a:avLst/>
          </a:prstGeom>
          <a:noFill/>
          <a:ln/>
        </p:spPr>
        <p:txBody>
          <a:bodyPr wrap="square" rtlCol="0" anchor="ctr"/>
          <a:lstStyle/>
          <a:p>
            <a:pPr algn="r" indent="0" marL="0">
              <a:buNone/>
            </a:pPr>
            <a:r>
              <a:rPr lang="en-US" sz="900" dirty="0">
                <a:solidFill>
                  <a:srgbClr val="5B6B8C"/>
                </a:solidFill>
                <a:latin typeface="Calibri" pitchFamily="34" charset="0"/>
                <a:ea typeface="Calibri" pitchFamily="34" charset="-122"/>
                <a:cs typeface="Calibri" pitchFamily="34" charset="-120"/>
              </a:rPr>
              <a:t>8</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1E2761"/>
        </a:solidFill>
      </p:bgPr>
    </p:bg>
    <p:spTree>
      <p:nvGrpSpPr>
        <p:cNvPr id="1" name=""/>
        <p:cNvGrpSpPr/>
        <p:nvPr/>
      </p:nvGrpSpPr>
      <p:grpSpPr>
        <a:xfrm>
          <a:off x="0" y="0"/>
          <a:ext cx="0" cy="0"/>
          <a:chOff x="0" y="0"/>
          <a:chExt cx="0" cy="0"/>
        </a:xfrm>
      </p:grpSpPr>
      <p:sp>
        <p:nvSpPr>
          <p:cNvPr id="2" name="Text 0"/>
          <p:cNvSpPr txBox="1"/>
          <p:nvPr/>
        </p:nvSpPr>
        <p:spPr>
          <a:xfrm>
            <a:off x="548640" y="411480"/>
            <a:ext cx="8229600" cy="640080"/>
          </a:xfrm>
          <a:prstGeom prst="rect">
            <a:avLst/>
          </a:prstGeom>
          <a:noFill/>
          <a:ln/>
        </p:spPr>
        <p:txBody>
          <a:bodyPr wrap="square" rtlCol="0" anchor="ctr"/>
          <a:lstStyle/>
          <a:p>
            <a:pPr indent="0" marL="0">
              <a:buNone/>
            </a:pPr>
            <a:r>
              <a:rPr lang="en-US" sz="3200" b="1" dirty="0">
                <a:solidFill>
                  <a:srgbClr val="FFFFFF"/>
                </a:solidFill>
                <a:latin typeface="Cambria" pitchFamily="34" charset="0"/>
                <a:ea typeface="Cambria" pitchFamily="34" charset="-122"/>
                <a:cs typeface="Cambria" pitchFamily="34" charset="-120"/>
              </a:rPr>
              <a:t>Expected Outcomes</a:t>
            </a:r>
            <a:endParaRPr lang="en-US" sz="3200" dirty="0"/>
          </a:p>
        </p:txBody>
      </p:sp>
      <p:sp>
        <p:nvSpPr>
          <p:cNvPr id="3" name="Text 1"/>
          <p:cNvSpPr txBox="1"/>
          <p:nvPr/>
        </p:nvSpPr>
        <p:spPr>
          <a:xfrm>
            <a:off x="548640" y="1554480"/>
            <a:ext cx="10789920" cy="4206240"/>
          </a:xfrm>
          <a:prstGeom prst="rect">
            <a:avLst/>
          </a:prstGeom>
          <a:noFill/>
          <a:ln/>
        </p:spPr>
        <p:txBody>
          <a:bodyPr wrap="square" rtlCol="0" anchor="t"/>
          <a:lstStyle/>
          <a:p>
            <a:pPr marL="342900" indent="-342900">
              <a:spcAft>
                <a:spcPts val="1800"/>
              </a:spcAft>
              <a:buSzPct val="100000"/>
              <a:buChar char="✔"/>
            </a:pPr>
            <a:r>
              <a:rPr lang="en-US" sz="1700" dirty="0">
                <a:solidFill>
                  <a:srgbClr val="FFFFFF"/>
                </a:solidFill>
                <a:latin typeface="Calibri" pitchFamily="34" charset="0"/>
                <a:ea typeface="Calibri" pitchFamily="34" charset="-122"/>
                <a:cs typeface="Calibri" pitchFamily="34" charset="-120"/>
              </a:rPr>
              <a:t>Helps beginners understand AWS services easily</a:t>
            </a:r>
            <a:endParaRPr lang="en-US" sz="1700" dirty="0"/>
          </a:p>
          <a:p>
            <a:pPr marL="342900" indent="-342900">
              <a:spcAft>
                <a:spcPts val="1800"/>
              </a:spcAft>
              <a:buSzPct val="100000"/>
              <a:buChar char="✔"/>
            </a:pPr>
            <a:r>
              <a:rPr lang="en-US" sz="1700" dirty="0">
                <a:solidFill>
                  <a:srgbClr val="FFFFFF"/>
                </a:solidFill>
                <a:latin typeface="Calibri" pitchFamily="34" charset="0"/>
                <a:ea typeface="Calibri" pitchFamily="34" charset="-122"/>
                <a:cs typeface="Calibri" pitchFamily="34" charset="-120"/>
              </a:rPr>
              <a:t>Provides organized, easy-to-read service information</a:t>
            </a:r>
            <a:endParaRPr lang="en-US" sz="1700" dirty="0"/>
          </a:p>
          <a:p>
            <a:pPr marL="342900" indent="-342900">
              <a:spcAft>
                <a:spcPts val="1800"/>
              </a:spcAft>
              <a:buSzPct val="100000"/>
              <a:buChar char="✔"/>
            </a:pPr>
            <a:r>
              <a:rPr lang="en-US" sz="1700" dirty="0">
                <a:solidFill>
                  <a:srgbClr val="FFFFFF"/>
                </a:solidFill>
                <a:latin typeface="Calibri" pitchFamily="34" charset="0"/>
                <a:ea typeface="Calibri" pitchFamily="34" charset="-122"/>
                <a:cs typeface="Calibri" pitchFamily="34" charset="-120"/>
              </a:rPr>
              <a:t>Allows users to search and compare services quickly</a:t>
            </a:r>
            <a:endParaRPr lang="en-US" sz="1700" dirty="0"/>
          </a:p>
          <a:p>
            <a:pPr marL="342900" indent="-342900">
              <a:spcAft>
                <a:spcPts val="1800"/>
              </a:spcAft>
              <a:buSzPct val="100000"/>
              <a:buChar char="✔"/>
            </a:pPr>
            <a:r>
              <a:rPr lang="en-US" sz="1700" dirty="0">
                <a:solidFill>
                  <a:srgbClr val="FFFFFF"/>
                </a:solidFill>
                <a:latin typeface="Calibri" pitchFamily="34" charset="0"/>
                <a:ea typeface="Calibri" pitchFamily="34" charset="-122"/>
                <a:cs typeface="Calibri" pitchFamily="34" charset="-120"/>
              </a:rPr>
              <a:t>Demonstrates practical use of Python and Streamlit</a:t>
            </a:r>
            <a:endParaRPr lang="en-US" sz="1700" dirty="0"/>
          </a:p>
          <a:p>
            <a:pPr marL="342900" indent="-342900">
              <a:spcAft>
                <a:spcPts val="1800"/>
              </a:spcAft>
              <a:buSzPct val="100000"/>
              <a:buChar char="✔"/>
            </a:pPr>
            <a:r>
              <a:rPr lang="en-US" sz="1700" dirty="0">
                <a:solidFill>
                  <a:srgbClr val="FFFFFF"/>
                </a:solidFill>
                <a:latin typeface="Calibri" pitchFamily="34" charset="0"/>
                <a:ea typeface="Calibri" pitchFamily="34" charset="-122"/>
                <a:cs typeface="Calibri" pitchFamily="34" charset="-120"/>
              </a:rPr>
              <a:t>Builds a basic understanding of AWS services and their business applications</a:t>
            </a:r>
            <a:endParaRPr lang="en-US" sz="1700" dirty="0"/>
          </a:p>
        </p:txBody>
      </p:sp>
      <p:sp>
        <p:nvSpPr>
          <p:cNvPr id="4" name="Text 2"/>
          <p:cNvSpPr/>
          <p:nvPr/>
        </p:nvSpPr>
        <p:spPr>
          <a:xfrm>
            <a:off x="457200" y="6510528"/>
            <a:ext cx="5486400" cy="274320"/>
          </a:xfrm>
          <a:prstGeom prst="rect">
            <a:avLst/>
          </a:prstGeom>
          <a:noFill/>
          <a:ln/>
        </p:spPr>
        <p:txBody>
          <a:bodyPr wrap="square" rtlCol="0" anchor="ctr"/>
          <a:lstStyle/>
          <a:p>
            <a:pPr algn="l" indent="0" marL="0">
              <a:buNone/>
            </a:pPr>
            <a:r>
              <a:rPr lang="en-US" sz="900" dirty="0">
                <a:solidFill>
                  <a:srgbClr val="CADCFC"/>
                </a:solidFill>
                <a:latin typeface="Calibri" pitchFamily="34" charset="0"/>
                <a:ea typeface="Calibri" pitchFamily="34" charset="-122"/>
                <a:cs typeface="Calibri" pitchFamily="34" charset="-120"/>
              </a:rPr>
              <a:t>AWS Service Explorer</a:t>
            </a:r>
            <a:endParaRPr lang="en-US" sz="900" dirty="0"/>
          </a:p>
        </p:txBody>
      </p:sp>
      <p:sp>
        <p:nvSpPr>
          <p:cNvPr id="5" name="Text 3"/>
          <p:cNvSpPr/>
          <p:nvPr/>
        </p:nvSpPr>
        <p:spPr>
          <a:xfrm>
            <a:off x="11430000" y="6510528"/>
            <a:ext cx="365760" cy="274320"/>
          </a:xfrm>
          <a:prstGeom prst="rect">
            <a:avLst/>
          </a:prstGeom>
          <a:noFill/>
          <a:ln/>
        </p:spPr>
        <p:txBody>
          <a:bodyPr wrap="square" rtlCol="0" anchor="ctr"/>
          <a:lstStyle/>
          <a:p>
            <a:pPr algn="r" indent="0" marL="0">
              <a:buNone/>
            </a:pPr>
            <a:r>
              <a:rPr lang="en-US" sz="900" dirty="0">
                <a:solidFill>
                  <a:srgbClr val="CADCFC"/>
                </a:solidFill>
                <a:latin typeface="Calibri" pitchFamily="34" charset="0"/>
                <a:ea typeface="Calibri" pitchFamily="34" charset="-122"/>
                <a:cs typeface="Calibri" pitchFamily="34" charset="-120"/>
              </a:rPr>
              <a:t>9</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9692640" y="-1371600"/>
            <a:ext cx="4572000" cy="4572000"/>
          </a:xfrm>
          <a:prstGeom prst="ellipse">
            <a:avLst/>
          </a:prstGeom>
          <a:solidFill>
            <a:srgbClr val="F4F7FD"/>
          </a:solidFill>
          <a:ln/>
        </p:spPr>
      </p:sp>
      <p:sp>
        <p:nvSpPr>
          <p:cNvPr id="3" name="Text 1"/>
          <p:cNvSpPr txBox="1"/>
          <p:nvPr/>
        </p:nvSpPr>
        <p:spPr>
          <a:xfrm>
            <a:off x="548640" y="411480"/>
            <a:ext cx="8229600" cy="640080"/>
          </a:xfrm>
          <a:prstGeom prst="rect">
            <a:avLst/>
          </a:prstGeom>
          <a:noFill/>
          <a:ln/>
        </p:spPr>
        <p:txBody>
          <a:bodyPr wrap="square" rtlCol="0" anchor="ctr"/>
          <a:lstStyle/>
          <a:p>
            <a:pPr indent="0" marL="0">
              <a:buNone/>
            </a:pPr>
            <a:r>
              <a:rPr lang="en-US" sz="3200" b="1" dirty="0">
                <a:solidFill>
                  <a:srgbClr val="1E2761"/>
                </a:solidFill>
                <a:latin typeface="Cambria" pitchFamily="34" charset="0"/>
                <a:ea typeface="Cambria" pitchFamily="34" charset="-122"/>
                <a:cs typeface="Cambria" pitchFamily="34" charset="-120"/>
              </a:rPr>
              <a:t>Conclusion</a:t>
            </a:r>
            <a:endParaRPr lang="en-US" sz="3200" dirty="0"/>
          </a:p>
        </p:txBody>
      </p:sp>
      <p:sp>
        <p:nvSpPr>
          <p:cNvPr id="4" name="Text 2"/>
          <p:cNvSpPr txBox="1"/>
          <p:nvPr/>
        </p:nvSpPr>
        <p:spPr>
          <a:xfrm>
            <a:off x="548640" y="1463040"/>
            <a:ext cx="6766560" cy="2377440"/>
          </a:xfrm>
          <a:prstGeom prst="rect">
            <a:avLst/>
          </a:prstGeom>
          <a:noFill/>
          <a:ln/>
        </p:spPr>
        <p:txBody>
          <a:bodyPr wrap="square" rtlCol="0" anchor="t"/>
          <a:lstStyle/>
          <a:p>
            <a:pPr indent="0" marL="0">
              <a:lnSpc>
                <a:spcPct val="130000"/>
              </a:lnSpc>
              <a:buNone/>
            </a:pPr>
            <a:r>
              <a:rPr lang="en-US" sz="1500" dirty="0">
                <a:solidFill>
                  <a:srgbClr val="1E2761"/>
                </a:solidFill>
                <a:latin typeface="Calibri" pitchFamily="34" charset="0"/>
                <a:ea typeface="Calibri" pitchFamily="34" charset="-122"/>
                <a:cs typeface="Calibri" pitchFamily="34" charset="-120"/>
              </a:rPr>
              <a:t>AWS Service Explorer successfully provides a simple, interactive way for beginners to learn about AWS cloud services. Built using Python and Streamlit, it demonstrates practical application development skills gained during the AWS Cloud Business Application internship, while keeping the implementation easy to build, explain, and extend.</a:t>
            </a:r>
            <a:endParaRPr lang="en-US" sz="1500" dirty="0"/>
          </a:p>
        </p:txBody>
      </p:sp>
      <p:sp>
        <p:nvSpPr>
          <p:cNvPr id="5" name="Shape 3"/>
          <p:cNvSpPr/>
          <p:nvPr/>
        </p:nvSpPr>
        <p:spPr>
          <a:xfrm>
            <a:off x="548640" y="4114800"/>
            <a:ext cx="6766560" cy="1737360"/>
          </a:xfrm>
          <a:prstGeom prst="roundRect">
            <a:avLst>
              <a:gd name="adj" fmla="val 5263"/>
            </a:avLst>
          </a:prstGeom>
          <a:solidFill>
            <a:srgbClr val="F4F7FD"/>
          </a:solidFill>
          <a:ln/>
        </p:spPr>
      </p:sp>
      <p:sp>
        <p:nvSpPr>
          <p:cNvPr id="6" name="Text 4"/>
          <p:cNvSpPr txBox="1"/>
          <p:nvPr/>
        </p:nvSpPr>
        <p:spPr>
          <a:xfrm>
            <a:off x="822960" y="4251960"/>
            <a:ext cx="6217920" cy="320040"/>
          </a:xfrm>
          <a:prstGeom prst="rect">
            <a:avLst/>
          </a:prstGeom>
          <a:noFill/>
          <a:ln/>
        </p:spPr>
        <p:txBody>
          <a:bodyPr wrap="square" rtlCol="0" anchor="ctr"/>
          <a:lstStyle/>
          <a:p>
            <a:pPr indent="0" marL="0">
              <a:buNone/>
            </a:pPr>
            <a:r>
              <a:rPr lang="en-US" sz="1400" b="1" dirty="0">
                <a:solidFill>
                  <a:srgbClr val="1E2761"/>
                </a:solidFill>
                <a:latin typeface="Calibri" pitchFamily="34" charset="0"/>
                <a:ea typeface="Calibri" pitchFamily="34" charset="-122"/>
                <a:cs typeface="Calibri" pitchFamily="34" charset="-120"/>
              </a:rPr>
              <a:t>Future Scope</a:t>
            </a:r>
            <a:endParaRPr lang="en-US" sz="1400" dirty="0"/>
          </a:p>
        </p:txBody>
      </p:sp>
      <p:sp>
        <p:nvSpPr>
          <p:cNvPr id="7" name="Text 5"/>
          <p:cNvSpPr txBox="1"/>
          <p:nvPr/>
        </p:nvSpPr>
        <p:spPr>
          <a:xfrm>
            <a:off x="822960" y="4617720"/>
            <a:ext cx="6217920" cy="1097280"/>
          </a:xfrm>
          <a:prstGeom prst="rect">
            <a:avLst/>
          </a:prstGeom>
          <a:noFill/>
          <a:ln/>
        </p:spPr>
        <p:txBody>
          <a:bodyPr wrap="square" rtlCol="0" anchor="ctr"/>
          <a:lstStyle/>
          <a:p>
            <a:pPr indent="0" marL="0">
              <a:buNone/>
            </a:pPr>
            <a:r>
              <a:rPr lang="en-US" sz="1250" dirty="0">
                <a:solidFill>
                  <a:srgbClr val="5B6B8C"/>
                </a:solidFill>
                <a:latin typeface="Calibri" pitchFamily="34" charset="0"/>
                <a:ea typeface="Calibri" pitchFamily="34" charset="-122"/>
                <a:cs typeface="Calibri" pitchFamily="34" charset="-120"/>
              </a:rPr>
              <a:t>Connect to real AWS APIs • Add more services • Provide live cloud information</a:t>
            </a:r>
            <a:endParaRPr lang="en-US" sz="1250" dirty="0"/>
          </a:p>
        </p:txBody>
      </p:sp>
      <p:sp>
        <p:nvSpPr>
          <p:cNvPr id="8" name="Shape 6"/>
          <p:cNvSpPr/>
          <p:nvPr/>
        </p:nvSpPr>
        <p:spPr>
          <a:xfrm>
            <a:off x="8412480" y="2377440"/>
            <a:ext cx="2377440" cy="2377440"/>
          </a:xfrm>
          <a:prstGeom prst="ellipse">
            <a:avLst/>
          </a:prstGeom>
          <a:solidFill>
            <a:srgbClr val="1E2761"/>
          </a:solidFill>
          <a:ln/>
        </p:spPr>
      </p:sp>
      <p:sp>
        <p:nvSpPr>
          <p:cNvPr id="9" name="Text 7"/>
          <p:cNvSpPr/>
          <p:nvPr/>
        </p:nvSpPr>
        <p:spPr>
          <a:xfrm>
            <a:off x="8412480" y="2377440"/>
            <a:ext cx="2377440" cy="2377440"/>
          </a:xfrm>
          <a:prstGeom prst="rect">
            <a:avLst/>
          </a:prstGeom>
          <a:noFill/>
          <a:ln/>
        </p:spPr>
        <p:txBody>
          <a:bodyPr wrap="square" rtlCol="0" anchor="ctr"/>
          <a:lstStyle/>
          <a:p>
            <a:pPr algn="ctr" indent="0" marL="0">
              <a:buNone/>
            </a:pPr>
            <a:r>
              <a:rPr lang="en-US" sz="7280" b="1" dirty="0">
                <a:solidFill>
                  <a:srgbClr val="FFFFFF"/>
                </a:solidFill>
                <a:latin typeface="Arial" pitchFamily="34" charset="0"/>
                <a:ea typeface="Arial" pitchFamily="34" charset="-122"/>
                <a:cs typeface="Arial" pitchFamily="34" charset="-120"/>
              </a:rPr>
              <a:t>☁</a:t>
            </a:r>
            <a:endParaRPr lang="en-US" sz="7280" dirty="0"/>
          </a:p>
        </p:txBody>
      </p:sp>
      <p:sp>
        <p:nvSpPr>
          <p:cNvPr id="10" name="Text 8"/>
          <p:cNvSpPr txBox="1"/>
          <p:nvPr/>
        </p:nvSpPr>
        <p:spPr>
          <a:xfrm>
            <a:off x="7498080" y="5120640"/>
            <a:ext cx="4206240" cy="548640"/>
          </a:xfrm>
          <a:prstGeom prst="rect">
            <a:avLst/>
          </a:prstGeom>
          <a:noFill/>
          <a:ln/>
        </p:spPr>
        <p:txBody>
          <a:bodyPr wrap="square" rtlCol="0" anchor="ctr"/>
          <a:lstStyle/>
          <a:p>
            <a:pPr algn="ctr" indent="0" marL="0">
              <a:buNone/>
            </a:pPr>
            <a:r>
              <a:rPr lang="en-US" sz="2000" b="1" dirty="0">
                <a:solidFill>
                  <a:srgbClr val="1E2761"/>
                </a:solidFill>
                <a:latin typeface="Cambria" pitchFamily="34" charset="0"/>
                <a:ea typeface="Cambria" pitchFamily="34" charset="-122"/>
                <a:cs typeface="Cambria" pitchFamily="34" charset="-120"/>
              </a:rPr>
              <a:t>Thank You</a:t>
            </a:r>
            <a:endParaRPr lang="en-US" sz="2000" dirty="0"/>
          </a:p>
        </p:txBody>
      </p:sp>
      <p:sp>
        <p:nvSpPr>
          <p:cNvPr id="11" name="Text 9"/>
          <p:cNvSpPr/>
          <p:nvPr/>
        </p:nvSpPr>
        <p:spPr>
          <a:xfrm>
            <a:off x="457200" y="6510528"/>
            <a:ext cx="5486400" cy="274320"/>
          </a:xfrm>
          <a:prstGeom prst="rect">
            <a:avLst/>
          </a:prstGeom>
          <a:noFill/>
          <a:ln/>
        </p:spPr>
        <p:txBody>
          <a:bodyPr wrap="square" rtlCol="0" anchor="ctr"/>
          <a:lstStyle/>
          <a:p>
            <a:pPr algn="l" indent="0" marL="0">
              <a:buNone/>
            </a:pPr>
            <a:r>
              <a:rPr lang="en-US" sz="900" dirty="0">
                <a:solidFill>
                  <a:srgbClr val="5B6B8C"/>
                </a:solidFill>
                <a:latin typeface="Calibri" pitchFamily="34" charset="0"/>
                <a:ea typeface="Calibri" pitchFamily="34" charset="-122"/>
                <a:cs typeface="Calibri" pitchFamily="34" charset="-120"/>
              </a:rPr>
              <a:t>AWS Service Explorer</a:t>
            </a:r>
            <a:endParaRPr lang="en-US" sz="900" dirty="0"/>
          </a:p>
        </p:txBody>
      </p:sp>
      <p:sp>
        <p:nvSpPr>
          <p:cNvPr id="12" name="Text 10"/>
          <p:cNvSpPr/>
          <p:nvPr/>
        </p:nvSpPr>
        <p:spPr>
          <a:xfrm>
            <a:off x="11430000" y="6510528"/>
            <a:ext cx="365760" cy="274320"/>
          </a:xfrm>
          <a:prstGeom prst="rect">
            <a:avLst/>
          </a:prstGeom>
          <a:noFill/>
          <a:ln/>
        </p:spPr>
        <p:txBody>
          <a:bodyPr wrap="square" rtlCol="0" anchor="ctr"/>
          <a:lstStyle/>
          <a:p>
            <a:pPr algn="r" indent="0" marL="0">
              <a:buNone/>
            </a:pPr>
            <a:r>
              <a:rPr lang="en-US" sz="900" dirty="0">
                <a:solidFill>
                  <a:srgbClr val="5B6B8C"/>
                </a:solidFill>
                <a:latin typeface="Calibri" pitchFamily="34" charset="0"/>
                <a:ea typeface="Calibri" pitchFamily="34" charset="-122"/>
                <a:cs typeface="Calibri" pitchFamily="34" charset="-120"/>
              </a:rPr>
              <a:t>10</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2026-08-30T09:13:50Z</dcterms:created>
  <dcterms:modified xsi:type="dcterms:W3CDTF">2026-08-30T09:13:50Z</dcterms:modified>
</cp:coreProperties>
</file>